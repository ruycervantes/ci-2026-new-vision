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394" r:id="rId2"/>
  </p:sldMasterIdLst>
  <p:notesMasterIdLst>
    <p:notesMasterId r:id="rId10"/>
  </p:notesMasterIdLst>
  <p:handoutMasterIdLst>
    <p:handoutMasterId r:id="rId11"/>
  </p:handoutMasterIdLst>
  <p:sldIdLst>
    <p:sldId id="834" r:id="rId3"/>
    <p:sldId id="835" r:id="rId4"/>
    <p:sldId id="848" r:id="rId5"/>
    <p:sldId id="828" r:id="rId6"/>
    <p:sldId id="841" r:id="rId7"/>
    <p:sldId id="842" r:id="rId8"/>
    <p:sldId id="847" r:id="rId9"/>
  </p:sldIdLst>
  <p:sldSz cx="9144000" cy="6858000" type="screen4x3"/>
  <p:notesSz cx="7077075" cy="9077325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5460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>
          <p15:clr>
            <a:srgbClr val="A4A3A4"/>
          </p15:clr>
        </p15:guide>
        <p15:guide id="6" pos="4422" userDrawn="1">
          <p15:clr>
            <a:srgbClr val="A4A3A4"/>
          </p15:clr>
        </p15:guide>
        <p15:guide id="7" pos="295" userDrawn="1">
          <p15:clr>
            <a:srgbClr val="A4A3A4"/>
          </p15:clr>
        </p15:guide>
        <p15:guide id="8" orient="horz">
          <p15:clr>
            <a:srgbClr val="A4A3A4"/>
          </p15:clr>
        </p15:guide>
        <p15:guide id="9" orient="horz" pos="980">
          <p15:clr>
            <a:srgbClr val="A4A3A4"/>
          </p15:clr>
        </p15:guide>
        <p15:guide id="10" pos="5415">
          <p15:clr>
            <a:srgbClr val="A4A3A4"/>
          </p15:clr>
        </p15:guide>
        <p15:guide id="11" pos="5692">
          <p15:clr>
            <a:srgbClr val="A4A3A4"/>
          </p15:clr>
        </p15:guide>
        <p15:guide id="12" pos="318">
          <p15:clr>
            <a:srgbClr val="A4A3A4"/>
          </p15:clr>
        </p15:guide>
        <p15:guide id="13" pos="4875">
          <p15:clr>
            <a:srgbClr val="A4A3A4"/>
          </p15:clr>
        </p15:guide>
        <p15:guide id="14" orient="horz" pos="4083">
          <p15:clr>
            <a:srgbClr val="A4A3A4"/>
          </p15:clr>
        </p15:guide>
        <p15:guide id="15" orient="horz" pos="1616">
          <p15:clr>
            <a:srgbClr val="A4A3A4"/>
          </p15:clr>
        </p15:guide>
        <p15:guide id="16" pos="5647">
          <p15:clr>
            <a:srgbClr val="A4A3A4"/>
          </p15:clr>
        </p15:guide>
        <p15:guide id="17" pos="454">
          <p15:clr>
            <a:srgbClr val="A4A3A4"/>
          </p15:clr>
        </p15:guide>
        <p15:guide id="18" pos="3198">
          <p15:clr>
            <a:srgbClr val="A4A3A4"/>
          </p15:clr>
        </p15:guide>
        <p15:guide id="19" pos="2835">
          <p15:clr>
            <a:srgbClr val="A4A3A4"/>
          </p15:clr>
        </p15:guide>
        <p15:guide id="20" pos="2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2060"/>
    <a:srgbClr val="800080"/>
    <a:srgbClr val="ED8600"/>
    <a:srgbClr val="6D7631"/>
    <a:srgbClr val="52BCEC"/>
    <a:srgbClr val="B228FF"/>
    <a:srgbClr val="FF7AF6"/>
    <a:srgbClr val="00408B"/>
    <a:srgbClr val="FBB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8" autoAdjust="0"/>
    <p:restoredTop sz="93878" autoAdjust="0"/>
  </p:normalViewPr>
  <p:slideViewPr>
    <p:cSldViewPr>
      <p:cViewPr varScale="1">
        <p:scale>
          <a:sx n="64" d="100"/>
          <a:sy n="64" d="100"/>
        </p:scale>
        <p:origin x="1830" y="66"/>
      </p:cViewPr>
      <p:guideLst>
        <p:guide orient="horz" pos="1207"/>
        <p:guide orient="horz" pos="1706"/>
        <p:guide pos="5460"/>
        <p:guide pos="2880"/>
        <p:guide/>
        <p:guide pos="4422"/>
        <p:guide pos="295"/>
        <p:guide orient="horz"/>
        <p:guide orient="horz" pos="980"/>
        <p:guide pos="5415"/>
        <p:guide pos="5692"/>
        <p:guide pos="318"/>
        <p:guide pos="4875"/>
        <p:guide orient="horz" pos="4083"/>
        <p:guide orient="horz" pos="1616"/>
        <p:guide pos="5647"/>
        <p:guide pos="454"/>
        <p:guide pos="3198"/>
        <p:guide pos="2835"/>
        <p:guide pos="22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09A370-6A6C-41D6-9094-1363128918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54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EFB6A-4357-432B-87E0-41522E5237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54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B39B8-CABD-4798-B491-B29252AE8842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B750C-2028-4129-A5EE-D6B58EB8F7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21884"/>
            <a:ext cx="3066733" cy="4554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8A853-80F2-48AB-A042-96191C4B8E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08705" y="8621884"/>
            <a:ext cx="3066733" cy="4554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7E85F-F26F-4A0C-8FD2-37CB10AA8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14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386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386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5672FE1-DF87-F44D-B63D-81E68F5B887F}" type="datetimeFigureOut">
              <a:rPr lang="en-US"/>
              <a:pPr/>
              <a:t>3/13/2018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681038"/>
            <a:ext cx="4537075" cy="3403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7708" y="4311730"/>
            <a:ext cx="5661660" cy="408479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21883"/>
            <a:ext cx="3066733" cy="4538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08705" y="8621883"/>
            <a:ext cx="3066733" cy="45386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D4CA472F-EEE5-0644-925B-AA3CADADF8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98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Puntos:</a:t>
            </a:r>
          </a:p>
          <a:p>
            <a:r>
              <a:rPr lang="es-AR" dirty="0"/>
              <a:t>-”</a:t>
            </a:r>
            <a:r>
              <a:rPr lang="es-AR" dirty="0" err="1"/>
              <a:t>Check</a:t>
            </a:r>
            <a:r>
              <a:rPr lang="es-AR" dirty="0"/>
              <a:t> in proceso”: Esta reunión empezó hace varias horas. [¿Hicieron </a:t>
            </a:r>
            <a:r>
              <a:rPr lang="es-AR" dirty="0" err="1"/>
              <a:t>check</a:t>
            </a:r>
            <a:r>
              <a:rPr lang="es-AR" dirty="0"/>
              <a:t> in al empezar?] La propuesta de este nuevo </a:t>
            </a:r>
            <a:r>
              <a:rPr lang="es-AR" dirty="0" err="1"/>
              <a:t>check</a:t>
            </a:r>
            <a:r>
              <a:rPr lang="es-AR" dirty="0"/>
              <a:t> in, entonces, no es a la reunión sino al proceso de desarrollo juntos, que ahora inicia su fase 2. Lo vamos a hacer en pequeños grupos y luego plenario.</a:t>
            </a:r>
          </a:p>
          <a:p>
            <a:r>
              <a:rPr lang="es-AR" dirty="0"/>
              <a:t>-”</a:t>
            </a:r>
            <a:r>
              <a:rPr lang="es-AR" dirty="0" err="1"/>
              <a:t>Check</a:t>
            </a:r>
            <a:r>
              <a:rPr lang="es-AR" dirty="0"/>
              <a:t> </a:t>
            </a:r>
            <a:r>
              <a:rPr lang="es-AR" dirty="0" err="1"/>
              <a:t>out</a:t>
            </a:r>
            <a:r>
              <a:rPr lang="es-AR" dirty="0"/>
              <a:t> reunión”: Éste sí va a ser el </a:t>
            </a:r>
            <a:r>
              <a:rPr lang="es-AR" dirty="0" err="1"/>
              <a:t>check</a:t>
            </a:r>
            <a:r>
              <a:rPr lang="es-AR" dirty="0"/>
              <a:t> </a:t>
            </a:r>
            <a:r>
              <a:rPr lang="es-AR" dirty="0" err="1"/>
              <a:t>out</a:t>
            </a:r>
            <a:r>
              <a:rPr lang="es-AR" dirty="0"/>
              <a:t> de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A472F-EEE5-0644-925B-AA3CADADF8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05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Puntos:</a:t>
            </a:r>
          </a:p>
          <a:p>
            <a:pPr marL="171450" indent="-171450">
              <a:buFontTx/>
              <a:buChar char="-"/>
            </a:pPr>
            <a:r>
              <a:rPr lang="es-AR" dirty="0"/>
              <a:t>El equipo lo es en todo momento </a:t>
            </a:r>
            <a:r>
              <a:rPr lang="es-AR" dirty="0" err="1"/>
              <a:t>y´no</a:t>
            </a:r>
            <a:r>
              <a:rPr lang="es-AR" dirty="0"/>
              <a:t> sólo en las reuniones.</a:t>
            </a:r>
          </a:p>
          <a:p>
            <a:pPr marL="171450" indent="-171450">
              <a:buFontTx/>
              <a:buChar char="-"/>
            </a:pPr>
            <a:r>
              <a:rPr lang="es-AR" dirty="0"/>
              <a:t>Pregunta 1: ¿Qué progresos vemos instalados y </a:t>
            </a:r>
            <a:r>
              <a:rPr lang="es-AR" u="sng" dirty="0"/>
              <a:t>sentimos que no habrá marcha atrás</a:t>
            </a:r>
            <a:r>
              <a:rPr lang="es-AR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A472F-EEE5-0644-925B-AA3CADADF8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3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Puntos:</a:t>
            </a:r>
          </a:p>
          <a:p>
            <a:r>
              <a:rPr lang="es-AR" dirty="0"/>
              <a:t>La fase 2 está pensada para:</a:t>
            </a:r>
          </a:p>
          <a:p>
            <a:r>
              <a:rPr lang="es-AR" dirty="0"/>
              <a:t>-  Profundizar en identificar oportunidades de mejora al desempeño del equipo - &gt; Nueva herramienta diagnóstica;</a:t>
            </a:r>
          </a:p>
          <a:p>
            <a:pPr marL="171450" indent="-171450">
              <a:buFontTx/>
              <a:buChar char="-"/>
            </a:pPr>
            <a:r>
              <a:rPr lang="es-AR" dirty="0"/>
              <a:t>Brindar más espacios de aprendizaje y alineamiento conjunto (Talleres);</a:t>
            </a:r>
          </a:p>
          <a:p>
            <a:pPr marL="171450" indent="-171450">
              <a:buFontTx/>
              <a:buChar char="-"/>
            </a:pPr>
            <a:r>
              <a:rPr lang="es-AR" dirty="0"/>
              <a:t>Ofrecer flexibilidad para que el propio equipo decida sobre algunas actividades y formatos preferidos, que juzgan más útiles.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A472F-EEE5-0644-925B-AA3CADADF8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14413" y="728663"/>
            <a:ext cx="4852987" cy="3640137"/>
          </a:xfrm>
          <a:ln/>
        </p:spPr>
      </p:sp>
      <p:sp>
        <p:nvSpPr>
          <p:cNvPr id="109570" name="Notes Placeholder 2"/>
          <p:cNvSpPr>
            <a:spLocks noGrp="1"/>
          </p:cNvSpPr>
          <p:nvPr>
            <p:ph type="body" idx="1"/>
          </p:nvPr>
        </p:nvSpPr>
        <p:spPr>
          <a:xfrm>
            <a:off x="686987" y="4612923"/>
            <a:ext cx="5507840" cy="4368868"/>
          </a:xfrm>
          <a:noFill/>
          <a:ln/>
        </p:spPr>
        <p:txBody>
          <a:bodyPr lIns="94229" tIns="47114" rIns="94229" bIns="47114"/>
          <a:lstStyle/>
          <a:p>
            <a:pPr eaLnBrk="1" hangingPunct="1"/>
            <a:endParaRPr lang="es-AR"/>
          </a:p>
        </p:txBody>
      </p:sp>
      <p:sp>
        <p:nvSpPr>
          <p:cNvPr id="109571" name="Slide Number Placeholder 3"/>
          <p:cNvSpPr txBox="1">
            <a:spLocks noGrp="1"/>
          </p:cNvSpPr>
          <p:nvPr/>
        </p:nvSpPr>
        <p:spPr bwMode="auto">
          <a:xfrm>
            <a:off x="3897902" y="9222633"/>
            <a:ext cx="2982418" cy="486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229" tIns="47114" rIns="94229" bIns="47114" anchor="b"/>
          <a:lstStyle/>
          <a:p>
            <a:pPr algn="r" defTabSz="942975"/>
            <a:fld id="{300DAFEF-9BFC-4F88-8F6C-6CAA82C0986B}" type="slidenum">
              <a:rPr lang="es-ES" sz="1200"/>
              <a:pPr algn="r" defTabSz="942975"/>
              <a:t>6</a:t>
            </a:fld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97728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8070850" y="0"/>
            <a:ext cx="1079500" cy="6872288"/>
          </a:xfrm>
          <a:prstGeom prst="rect">
            <a:avLst/>
          </a:prstGeom>
          <a:solidFill>
            <a:srgbClr val="FBB03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600" b="1">
              <a:solidFill>
                <a:srgbClr val="002D62"/>
              </a:solidFill>
              <a:ea typeface="+mn-ea"/>
            </a:endParaRPr>
          </a:p>
        </p:txBody>
      </p:sp>
      <p:pic>
        <p:nvPicPr>
          <p:cNvPr id="5" name="Picture 16" descr="Logo - pelotas blanca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5" y="260350"/>
            <a:ext cx="665163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29 Imagen" descr="AZUL.wmf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476"/>
          <a:stretch>
            <a:fillRect/>
          </a:stretch>
        </p:blipFill>
        <p:spPr bwMode="auto">
          <a:xfrm>
            <a:off x="252413" y="6021388"/>
            <a:ext cx="23907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1601788"/>
            <a:ext cx="7129463" cy="3482975"/>
          </a:xfrm>
        </p:spPr>
        <p:txBody>
          <a:bodyPr/>
          <a:lstStyle>
            <a:lvl1pPr marL="0" indent="0">
              <a:buFontTx/>
              <a:buNone/>
              <a:defRPr smtClean="0"/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532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825" y="476250"/>
            <a:ext cx="7129463" cy="1081088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8682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8A8C63CF-231F-9247-9E13-12F26C2C4EE7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79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496CD2A5-7056-9F42-A91D-90F017B7A1D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23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79400" y="1125538"/>
            <a:ext cx="4194175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25975" y="1125538"/>
            <a:ext cx="4194175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8F748856-F8B0-CE44-83B1-C895B2C73802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95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56813728-24CC-EA4B-9F19-5FCA8B976C09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77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44E301C1-894E-F845-A233-404FC2D4A89B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35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5C9BAFAD-0E7C-C246-9092-AF39667C27BC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00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2CD2F85F-4C24-DF45-B98E-C29E20141864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06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8F5D98C8-401B-2B4B-B3D0-78A00964F1B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8C711999-4F3E-FC44-A33C-7C9D0A9B380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2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94500" y="185738"/>
            <a:ext cx="2170113" cy="54657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79400" y="185738"/>
            <a:ext cx="6362700" cy="546576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| </a:t>
            </a:r>
            <a:fld id="{B9044B61-496A-2C46-ADEE-B7D57FE858A5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552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857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77788" y="6690900"/>
            <a:ext cx="2018664" cy="127000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1" i="0">
                <a:solidFill>
                  <a:srgbClr val="B2B2B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5"/>
              <a:t>© </a:t>
            </a:r>
            <a:r>
              <a:t>2013</a:t>
            </a:r>
            <a:r>
              <a:rPr spc="-30"/>
              <a:t> </a:t>
            </a:r>
            <a:r>
              <a:t>Ax</a:t>
            </a:r>
            <a:r>
              <a:rPr spc="-5"/>
              <a:t>i</a:t>
            </a:r>
            <a:r>
              <a:t>a</a:t>
            </a:r>
            <a:r>
              <a:rPr spc="-5"/>
              <a:t>l</a:t>
            </a:r>
            <a:r>
              <a:t>ent,</a:t>
            </a:r>
            <a:r>
              <a:rPr spc="-5"/>
              <a:t> In</a:t>
            </a:r>
            <a:r>
              <a:t>c</a:t>
            </a:r>
            <a:r>
              <a:rPr spc="-5"/>
              <a:t>.</a:t>
            </a:r>
            <a:r>
              <a:rPr spc="-30"/>
              <a:t> </a:t>
            </a:r>
            <a:r>
              <a:t>A</a:t>
            </a:r>
            <a:r>
              <a:rPr spc="-5"/>
              <a:t>ll </a:t>
            </a:r>
            <a:r>
              <a:t>R</a:t>
            </a:r>
            <a:r>
              <a:rPr spc="-5"/>
              <a:t>igh</a:t>
            </a:r>
            <a:r>
              <a:t>ts</a:t>
            </a:r>
            <a:r>
              <a:rPr spc="-5"/>
              <a:t> </a:t>
            </a:r>
            <a:r>
              <a:t>Reserve</a:t>
            </a:r>
            <a:r>
              <a:rPr spc="-5"/>
              <a:t>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3/13/2018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BB03F"/>
                </a:solidFill>
                <a:latin typeface="Arial"/>
                <a:cs typeface="Arial"/>
              </a:defRPr>
            </a:lvl1pPr>
          </a:lstStyle>
          <a:p>
            <a:pPr marL="83185">
              <a:lnSpc>
                <a:spcPts val="1110"/>
              </a:lnSpc>
            </a:pPr>
            <a:r>
              <a:rPr spc="-5"/>
              <a:t>| </a:t>
            </a:r>
            <a:fld id="{81D60167-4931-47E6-BA6A-407CBD079E47}" type="slidenum">
              <a:rPr>
                <a:solidFill>
                  <a:srgbClr val="B2B2B2"/>
                </a:solidFill>
              </a:rPr>
              <a:pPr marL="83185">
                <a:lnSpc>
                  <a:spcPts val="1110"/>
                </a:lnSpc>
              </a:pPr>
              <a:t>‹#›</a:t>
            </a:fld>
            <a:endParaRPr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382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lide Number Placeholder 5"/>
          <p:cNvSpPr txBox="1">
            <a:spLocks/>
          </p:cNvSpPr>
          <p:nvPr userDrawn="1"/>
        </p:nvSpPr>
        <p:spPr>
          <a:xfrm>
            <a:off x="8543925" y="152400"/>
            <a:ext cx="390525" cy="365125"/>
          </a:xfrm>
          <a:prstGeom prst="rect">
            <a:avLst/>
          </a:prstGeom>
        </p:spPr>
        <p:txBody>
          <a:bodyPr lIns="38405" tIns="19202" rIns="38405" bIns="19202"/>
          <a:lstStyle>
            <a:lvl1pPr defTabSz="382588" eaLnBrk="0" hangingPunct="0"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defTabSz="382588" eaLnBrk="0" hangingPunct="0"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defTabSz="382588" eaLnBrk="0" hangingPunct="0"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defTabSz="382588" eaLnBrk="0" hangingPunct="0"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defTabSz="382588" eaLnBrk="0" hangingPunct="0"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defTabSz="3825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ctr" eaLnBrk="1" hangingPunct="1"/>
            <a:fld id="{619BA01E-435E-6E40-BC36-3103A721A9A3}" type="slidenum">
              <a:rPr lang="en-US" sz="1000">
                <a:solidFill>
                  <a:srgbClr val="F2F2F2"/>
                </a:solidFill>
                <a:latin typeface="Calibri" charset="0"/>
                <a:cs typeface="Calibri" charset="0"/>
              </a:rPr>
              <a:pPr algn="ctr" eaLnBrk="1" hangingPunct="1"/>
              <a:t>‹#›</a:t>
            </a:fld>
            <a:endParaRPr lang="en-US" sz="1000">
              <a:solidFill>
                <a:srgbClr val="F2F2F2"/>
              </a:solidFill>
              <a:latin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718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5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056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476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146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586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615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95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_tradnl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39640D8-E657-4586-8C50-0510108EA0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5"/>
          <p:cNvSpPr>
            <a:spLocks noChangeArrowheads="1"/>
          </p:cNvSpPr>
          <p:nvPr userDrawn="1"/>
        </p:nvSpPr>
        <p:spPr bwMode="auto">
          <a:xfrm>
            <a:off x="8070850" y="0"/>
            <a:ext cx="1079500" cy="6872288"/>
          </a:xfrm>
          <a:prstGeom prst="rect">
            <a:avLst/>
          </a:prstGeom>
          <a:solidFill>
            <a:srgbClr val="FBB03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600" b="1">
              <a:solidFill>
                <a:srgbClr val="002D62"/>
              </a:solidFill>
              <a:ea typeface="+mn-ea"/>
            </a:endParaRPr>
          </a:p>
        </p:txBody>
      </p:sp>
      <p:pic>
        <p:nvPicPr>
          <p:cNvPr id="8" name="Picture 16" descr="Logo - pelotas blancas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5" y="260350"/>
            <a:ext cx="665163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29 Imagen" descr="AZUL.wmf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476"/>
          <a:stretch>
            <a:fillRect/>
          </a:stretch>
        </p:blipFill>
        <p:spPr bwMode="auto">
          <a:xfrm>
            <a:off x="252413" y="6021388"/>
            <a:ext cx="23907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/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8F748856-F8B0-CE44-83B1-C895B2C73802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56813728-24CC-EA4B-9F19-5FCA8B976C09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10C3965E-7A83-5C4D-89C2-F73B7BE587FA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5C9BAFAD-0E7C-C246-9092-AF39667C27BC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2CD2F85F-4C24-DF45-B98E-C29E20141864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8F5D98C8-401B-2B4B-B3D0-78A00964F1BA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8C711999-4F3E-FC44-A33C-7C9D0A9B380A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A18C1B8-50A5-46A5-853F-ABE48A34876A}" type="datetimeFigureOut">
              <a:rPr lang="en-US" smtClean="0"/>
              <a:pPr/>
              <a:t>3/13/2018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B9044B61-496A-2C46-ADEE-B7D57FE858A5}" type="slidenum">
              <a:rPr lang="en-US" smtClean="0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/>
          <p:cNvSpPr/>
          <p:nvPr userDrawn="1"/>
        </p:nvSpPr>
        <p:spPr>
          <a:xfrm>
            <a:off x="0" y="6334869"/>
            <a:ext cx="9144000" cy="523131"/>
          </a:xfrm>
          <a:prstGeom prst="rect">
            <a:avLst/>
          </a:prstGeom>
          <a:solidFill>
            <a:srgbClr val="002D62"/>
          </a:solidFill>
          <a:ln w="12700">
            <a:noFill/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185738"/>
            <a:ext cx="8685213" cy="5794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125538"/>
            <a:ext cx="8540750" cy="452596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hape 2"/>
          <p:cNvSpPr/>
          <p:nvPr userDrawn="1"/>
        </p:nvSpPr>
        <p:spPr>
          <a:xfrm>
            <a:off x="0" y="6334869"/>
            <a:ext cx="9144000" cy="523131"/>
          </a:xfrm>
          <a:prstGeom prst="rect">
            <a:avLst/>
          </a:prstGeom>
          <a:solidFill>
            <a:srgbClr val="002D62"/>
          </a:solidFill>
          <a:ln w="12700">
            <a:noFill/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91300"/>
            <a:ext cx="2133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rgbClr val="FBB03F"/>
                </a:solidFill>
                <a:sym typeface="Trebuchet MS" charset="0"/>
              </a:defRPr>
            </a:lvl1pPr>
          </a:lstStyle>
          <a:p>
            <a:r>
              <a:rPr lang="en-US"/>
              <a:t>| </a:t>
            </a:r>
            <a:fld id="{10C3965E-7A83-5C4D-89C2-F73B7BE587FA}" type="slidenum">
              <a:rPr lang="en-US">
                <a:solidFill>
                  <a:srgbClr val="B2B2B2"/>
                </a:solidFill>
              </a:rPr>
              <a:pPr/>
              <a:t>‹#›</a:t>
            </a:fld>
            <a:endParaRPr lang="en-US">
              <a:solidFill>
                <a:srgbClr val="B2B2B2"/>
              </a:solidFill>
            </a:endParaRPr>
          </a:p>
        </p:txBody>
      </p:sp>
      <p:pic>
        <p:nvPicPr>
          <p:cNvPr id="7" name="image5.pdf" descr="BLANCO2.wmf"/>
          <p:cNvPicPr>
            <a:picLocks noChangeAspect="1"/>
          </p:cNvPicPr>
          <p:nvPr userDrawn="1"/>
        </p:nvPicPr>
        <p:blipFill>
          <a:blip r:embed="rId23" cstate="print">
            <a:extLst/>
          </a:blip>
          <a:stretch>
            <a:fillRect/>
          </a:stretch>
        </p:blipFill>
        <p:spPr>
          <a:xfrm>
            <a:off x="179512" y="6453336"/>
            <a:ext cx="1224136" cy="408728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14" r:id="rId2"/>
    <p:sldLayoutId id="2147484315" r:id="rId3"/>
    <p:sldLayoutId id="2147484316" r:id="rId4"/>
    <p:sldLayoutId id="2147484317" r:id="rId5"/>
    <p:sldLayoutId id="2147484318" r:id="rId6"/>
    <p:sldLayoutId id="2147484319" r:id="rId7"/>
    <p:sldLayoutId id="2147484320" r:id="rId8"/>
    <p:sldLayoutId id="2147484321" r:id="rId9"/>
    <p:sldLayoutId id="2147484322" r:id="rId10"/>
    <p:sldLayoutId id="2147484323" r:id="rId11"/>
    <p:sldLayoutId id="2147484384" r:id="rId12"/>
    <p:sldLayoutId id="2147484385" r:id="rId13"/>
    <p:sldLayoutId id="2147484386" r:id="rId14"/>
    <p:sldLayoutId id="2147484387" r:id="rId15"/>
    <p:sldLayoutId id="2147484388" r:id="rId16"/>
    <p:sldLayoutId id="2147484389" r:id="rId17"/>
    <p:sldLayoutId id="2147484390" r:id="rId18"/>
    <p:sldLayoutId id="2147484391" r:id="rId19"/>
    <p:sldLayoutId id="2147484392" r:id="rId20"/>
    <p:sldLayoutId id="2147484393" r:id="rId2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D62"/>
          </a:solidFill>
          <a:latin typeface="Arial" charset="0"/>
          <a:cs typeface="Arial" charset="0"/>
        </a:defRPr>
      </a:lvl9pPr>
    </p:titleStyle>
    <p:bodyStyle>
      <a:lvl1pPr marL="231775" indent="-231775" algn="l" rtl="0" eaLnBrk="0" fontAlgn="base" hangingPunct="0">
        <a:spcBef>
          <a:spcPct val="60000"/>
        </a:spcBef>
        <a:spcAft>
          <a:spcPct val="0"/>
        </a:spcAft>
        <a:buClr>
          <a:schemeClr val="accent2"/>
        </a:buClr>
        <a:buChar char="•"/>
        <a:defRPr b="1">
          <a:solidFill>
            <a:srgbClr val="002D62"/>
          </a:solidFill>
          <a:latin typeface="+mn-lt"/>
          <a:ea typeface="ＭＳ Ｐゴシック" charset="0"/>
          <a:cs typeface="+mn-cs"/>
        </a:defRPr>
      </a:lvl1pPr>
      <a:lvl2pPr marL="566738" indent="-220663" algn="l" rtl="0" eaLnBrk="0" fontAlgn="base" hangingPunct="0">
        <a:spcBef>
          <a:spcPct val="60000"/>
        </a:spcBef>
        <a:spcAft>
          <a:spcPct val="0"/>
        </a:spcAft>
        <a:buClr>
          <a:srgbClr val="A6A6A6"/>
        </a:buClr>
        <a:buFont typeface="Verdana" charset="0"/>
        <a:buChar char="›"/>
        <a:defRPr sz="1600" b="1">
          <a:solidFill>
            <a:srgbClr val="002D62"/>
          </a:solidFill>
          <a:latin typeface="+mn-lt"/>
          <a:ea typeface="Arial" charset="0"/>
          <a:cs typeface="+mn-cs"/>
        </a:defRPr>
      </a:lvl2pPr>
      <a:lvl3pPr marL="914400" indent="-233363" algn="l" rtl="0" eaLnBrk="0" fontAlgn="base" hangingPunct="0">
        <a:spcBef>
          <a:spcPct val="60000"/>
        </a:spcBef>
        <a:spcAft>
          <a:spcPct val="0"/>
        </a:spcAft>
        <a:buClr>
          <a:srgbClr val="A6A6A6"/>
        </a:buClr>
        <a:buFont typeface="Arial" charset="0"/>
        <a:buChar char="-"/>
        <a:defRPr sz="1400" b="1">
          <a:solidFill>
            <a:srgbClr val="002D62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rgbClr val="002D62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rgbClr val="002D62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002D62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002D62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002D62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002D6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/>
          <p:cNvSpPr/>
          <p:nvPr/>
        </p:nvSpPr>
        <p:spPr>
          <a:xfrm>
            <a:off x="0" y="6334870"/>
            <a:ext cx="9144000" cy="523131"/>
          </a:xfrm>
          <a:prstGeom prst="rect">
            <a:avLst/>
          </a:prstGeom>
          <a:solidFill>
            <a:srgbClr val="002D62"/>
          </a:solidFill>
          <a:ln w="12700">
            <a:noFill/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4289" rIns="34289" anchor="ctr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073" y="6334870"/>
            <a:ext cx="1059927" cy="523131"/>
          </a:xfrm>
          <a:prstGeom prst="rect">
            <a:avLst/>
          </a:prstGeom>
        </p:spPr>
      </p:pic>
      <p:pic>
        <p:nvPicPr>
          <p:cNvPr id="5" name="image5.pdf" descr="BLANCO2.wmf"/>
          <p:cNvPicPr>
            <a:picLocks noChangeAspect="1"/>
          </p:cNvPicPr>
          <p:nvPr/>
        </p:nvPicPr>
        <p:blipFill>
          <a:blip r:embed="rId14" cstate="print">
            <a:extLst/>
          </a:blip>
          <a:stretch>
            <a:fillRect/>
          </a:stretch>
        </p:blipFill>
        <p:spPr>
          <a:xfrm>
            <a:off x="296019" y="6438082"/>
            <a:ext cx="728858" cy="31663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"/>
          <p:cNvSpPr/>
          <p:nvPr userDrawn="1"/>
        </p:nvSpPr>
        <p:spPr>
          <a:xfrm>
            <a:off x="0" y="6334869"/>
            <a:ext cx="9144000" cy="523131"/>
          </a:xfrm>
          <a:prstGeom prst="rect">
            <a:avLst/>
          </a:prstGeom>
          <a:solidFill>
            <a:srgbClr val="002D62"/>
          </a:solidFill>
          <a:ln w="12700">
            <a:noFill/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8" name="Shape 2"/>
          <p:cNvSpPr/>
          <p:nvPr userDrawn="1"/>
        </p:nvSpPr>
        <p:spPr>
          <a:xfrm>
            <a:off x="0" y="6334869"/>
            <a:ext cx="9144000" cy="523131"/>
          </a:xfrm>
          <a:prstGeom prst="rect">
            <a:avLst/>
          </a:prstGeom>
          <a:solidFill>
            <a:srgbClr val="002D62"/>
          </a:solidFill>
          <a:ln w="12700">
            <a:noFill/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9" name="image5.pdf" descr="BLANCO2.wmf"/>
          <p:cNvPicPr>
            <a:picLocks noChangeAspect="1"/>
          </p:cNvPicPr>
          <p:nvPr userDrawn="1"/>
        </p:nvPicPr>
        <p:blipFill>
          <a:blip r:embed="rId14" cstate="print">
            <a:extLst/>
          </a:blip>
          <a:stretch>
            <a:fillRect/>
          </a:stretch>
        </p:blipFill>
        <p:spPr>
          <a:xfrm>
            <a:off x="179512" y="6453336"/>
            <a:ext cx="1224136" cy="408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4148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5" r:id="rId1"/>
    <p:sldLayoutId id="2147484396" r:id="rId2"/>
    <p:sldLayoutId id="2147484397" r:id="rId3"/>
    <p:sldLayoutId id="2147484398" r:id="rId4"/>
    <p:sldLayoutId id="2147484399" r:id="rId5"/>
    <p:sldLayoutId id="2147484400" r:id="rId6"/>
    <p:sldLayoutId id="2147484401" r:id="rId7"/>
    <p:sldLayoutId id="2147484402" r:id="rId8"/>
    <p:sldLayoutId id="2147484403" r:id="rId9"/>
    <p:sldLayoutId id="2147484404" r:id="rId10"/>
    <p:sldLayoutId id="214748440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3.jpeg" descr="C:\Users\Lucia Ledesma\Downloads\iStock_000017439285Small.jpg"/>
          <p:cNvPicPr>
            <a:picLocks noChangeAspect="1"/>
          </p:cNvPicPr>
          <p:nvPr/>
        </p:nvPicPr>
        <p:blipFill>
          <a:blip r:embed="rId2" cstate="print">
            <a:extLst/>
          </a:blip>
          <a:srcRect l="5246" r="6022"/>
          <a:stretch>
            <a:fillRect/>
          </a:stretch>
        </p:blipFill>
        <p:spPr>
          <a:xfrm>
            <a:off x="-1426186" y="0"/>
            <a:ext cx="10570186" cy="63535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mage2.pdf" descr="FOR PPT - BLUE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6243085" y="548680"/>
            <a:ext cx="2593991" cy="73140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/>
          <p:cNvSpPr txBox="1"/>
          <p:nvPr/>
        </p:nvSpPr>
        <p:spPr>
          <a:xfrm>
            <a:off x="3819292" y="4221088"/>
            <a:ext cx="5017784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000" b="1" dirty="0" err="1">
                <a:solidFill>
                  <a:srgbClr val="002060"/>
                </a:solidFill>
                <a:ea typeface="Arial" charset="0"/>
              </a:rPr>
              <a:t>Impulsando</a:t>
            </a:r>
            <a:r>
              <a:rPr lang="en-US" sz="3000" b="1" dirty="0">
                <a:solidFill>
                  <a:srgbClr val="002060"/>
                </a:solidFill>
                <a:ea typeface="Arial" charset="0"/>
              </a:rPr>
              <a:t> el </a:t>
            </a:r>
            <a:r>
              <a:rPr lang="en-US" sz="3000" b="1" dirty="0" err="1">
                <a:solidFill>
                  <a:srgbClr val="002060"/>
                </a:solidFill>
                <a:ea typeface="Arial" charset="0"/>
              </a:rPr>
              <a:t>desempeño</a:t>
            </a:r>
            <a:endParaRPr lang="en-US" sz="3000" b="1" dirty="0">
              <a:solidFill>
                <a:srgbClr val="002060"/>
              </a:solidFill>
              <a:ea typeface="Arial" charset="0"/>
            </a:endParaRPr>
          </a:p>
          <a:p>
            <a:pPr algn="r"/>
            <a:r>
              <a:rPr lang="es-AR" sz="3000" b="1" dirty="0">
                <a:solidFill>
                  <a:srgbClr val="002060"/>
                </a:solidFill>
                <a:ea typeface="Arial" charset="0"/>
              </a:rPr>
              <a:t>del equipo</a:t>
            </a:r>
          </a:p>
          <a:p>
            <a:pPr algn="r"/>
            <a:endParaRPr lang="en-US" sz="600" b="1" dirty="0">
              <a:solidFill>
                <a:srgbClr val="002060"/>
              </a:solidFill>
              <a:ea typeface="Arial" charset="0"/>
            </a:endParaRPr>
          </a:p>
          <a:p>
            <a:pPr algn="r"/>
            <a:r>
              <a:rPr lang="es-AR" sz="2000" b="1" dirty="0">
                <a:solidFill>
                  <a:srgbClr val="002060"/>
                </a:solidFill>
                <a:ea typeface="Arial" charset="0"/>
              </a:rPr>
              <a:t>Fase 2 -  2018</a:t>
            </a:r>
            <a:endParaRPr lang="en-US" sz="1200" b="1" dirty="0">
              <a:solidFill>
                <a:srgbClr val="002060"/>
              </a:solidFill>
              <a:ea typeface="Arial" charset="0"/>
            </a:endParaRPr>
          </a:p>
        </p:txBody>
      </p:sp>
      <p:pic>
        <p:nvPicPr>
          <p:cNvPr id="7" name="6 Imagen" descr="wu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6970" y="4393407"/>
            <a:ext cx="1607344" cy="1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E9BD-ABB1-4E99-A397-AF838D1F2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117958"/>
            <a:ext cx="8119814" cy="2251447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AR" sz="3000" dirty="0" err="1"/>
              <a:t>Check</a:t>
            </a:r>
            <a:r>
              <a:rPr lang="es-AR" sz="3000" dirty="0"/>
              <a:t> in al proceso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AR" sz="3000" dirty="0"/>
              <a:t>Detalle del programa – Fase 2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AR" sz="3000" dirty="0" err="1"/>
              <a:t>Check</a:t>
            </a:r>
            <a:r>
              <a:rPr lang="es-AR" sz="3000" dirty="0"/>
              <a:t> </a:t>
            </a:r>
            <a:r>
              <a:rPr lang="es-AR" sz="3000" dirty="0" err="1"/>
              <a:t>out</a:t>
            </a:r>
            <a:r>
              <a:rPr lang="es-AR" sz="3000" dirty="0"/>
              <a:t> reunión</a:t>
            </a:r>
            <a:endParaRPr lang="en-US" sz="3000" dirty="0"/>
          </a:p>
        </p:txBody>
      </p:sp>
      <p:cxnSp>
        <p:nvCxnSpPr>
          <p:cNvPr id="4" name="27 Conector recto">
            <a:extLst>
              <a:ext uri="{FF2B5EF4-FFF2-40B4-BE49-F238E27FC236}">
                <a16:creationId xmlns:a16="http://schemas.microsoft.com/office/drawing/2014/main" id="{CD0FC914-DACE-453B-B77B-F2EC91EDE12D}"/>
              </a:ext>
            </a:extLst>
          </p:cNvPr>
          <p:cNvCxnSpPr/>
          <p:nvPr/>
        </p:nvCxnSpPr>
        <p:spPr>
          <a:xfrm>
            <a:off x="499364" y="135012"/>
            <a:ext cx="0" cy="854355"/>
          </a:xfrm>
          <a:prstGeom prst="line">
            <a:avLst/>
          </a:prstGeom>
          <a:noFill/>
          <a:ln w="28575">
            <a:solidFill>
              <a:srgbClr val="002060"/>
            </a:solidFill>
          </a:ln>
        </p:spPr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9545CAE8-735E-46ED-A3F4-1FDA2BEA43AA}"/>
              </a:ext>
            </a:extLst>
          </p:cNvPr>
          <p:cNvSpPr/>
          <p:nvPr/>
        </p:nvSpPr>
        <p:spPr>
          <a:xfrm>
            <a:off x="467544" y="188640"/>
            <a:ext cx="6285001" cy="833390"/>
          </a:xfrm>
          <a:prstGeom prst="rect">
            <a:avLst/>
          </a:prstGeom>
        </p:spPr>
        <p:txBody>
          <a:bodyPr wrap="square" lIns="101431" tIns="50715" rIns="101431" bIns="50715">
            <a:spAutoFit/>
          </a:bodyPr>
          <a:lstStyle/>
          <a:p>
            <a:pPr>
              <a:lnSpc>
                <a:spcPct val="125000"/>
              </a:lnSpc>
            </a:pPr>
            <a:r>
              <a:rPr lang="es-ES" sz="2400" dirty="0">
                <a:solidFill>
                  <a:srgbClr val="002060"/>
                </a:solidFill>
                <a:ea typeface="Arial" charset="0"/>
              </a:rPr>
              <a:t>AGENDA</a:t>
            </a:r>
          </a:p>
          <a:p>
            <a:pPr>
              <a:lnSpc>
                <a:spcPct val="125000"/>
              </a:lnSpc>
            </a:pPr>
            <a:endParaRPr lang="es-ES_tradnl" sz="1400" dirty="0">
              <a:solidFill>
                <a:srgbClr val="002060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55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E9BD-ABB1-4E99-A397-AF838D1F2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340768"/>
            <a:ext cx="8119814" cy="274060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AR" sz="2800" dirty="0"/>
              <a:t>Considerando cómo funcionamos como equipo en los últimos meses (dentro y fuera de nuestras reuniones)…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AR" sz="2800" dirty="0"/>
              <a:t>…¿Qué progresos vemos consolidados en el MT?</a:t>
            </a:r>
          </a:p>
          <a:p>
            <a:pPr marL="514350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AR" sz="2800" dirty="0"/>
              <a:t>…¿En qué 2 cosas importantes necesitamos enfocarnos en 2018 para seguir creciendo como equipo?</a:t>
            </a:r>
          </a:p>
        </p:txBody>
      </p:sp>
      <p:cxnSp>
        <p:nvCxnSpPr>
          <p:cNvPr id="4" name="27 Conector recto">
            <a:extLst>
              <a:ext uri="{FF2B5EF4-FFF2-40B4-BE49-F238E27FC236}">
                <a16:creationId xmlns:a16="http://schemas.microsoft.com/office/drawing/2014/main" id="{CD0FC914-DACE-453B-B77B-F2EC91EDE12D}"/>
              </a:ext>
            </a:extLst>
          </p:cNvPr>
          <p:cNvCxnSpPr/>
          <p:nvPr/>
        </p:nvCxnSpPr>
        <p:spPr>
          <a:xfrm>
            <a:off x="499364" y="135012"/>
            <a:ext cx="0" cy="854355"/>
          </a:xfrm>
          <a:prstGeom prst="line">
            <a:avLst/>
          </a:prstGeom>
          <a:noFill/>
          <a:ln w="28575">
            <a:solidFill>
              <a:srgbClr val="002060"/>
            </a:solidFill>
          </a:ln>
        </p:spPr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9545CAE8-735E-46ED-A3F4-1FDA2BEA43AA}"/>
              </a:ext>
            </a:extLst>
          </p:cNvPr>
          <p:cNvSpPr/>
          <p:nvPr/>
        </p:nvSpPr>
        <p:spPr>
          <a:xfrm>
            <a:off x="467544" y="188640"/>
            <a:ext cx="6285001" cy="833390"/>
          </a:xfrm>
          <a:prstGeom prst="rect">
            <a:avLst/>
          </a:prstGeom>
        </p:spPr>
        <p:txBody>
          <a:bodyPr wrap="square" lIns="101431" tIns="50715" rIns="101431" bIns="50715">
            <a:spAutoFit/>
          </a:bodyPr>
          <a:lstStyle/>
          <a:p>
            <a:pPr>
              <a:lnSpc>
                <a:spcPct val="125000"/>
              </a:lnSpc>
            </a:pPr>
            <a:r>
              <a:rPr lang="es-ES" sz="2400" dirty="0">
                <a:solidFill>
                  <a:srgbClr val="002060"/>
                </a:solidFill>
                <a:ea typeface="Arial" charset="0"/>
              </a:rPr>
              <a:t>1.- CHECK IN PROCESO</a:t>
            </a:r>
          </a:p>
          <a:p>
            <a:pPr>
              <a:lnSpc>
                <a:spcPct val="125000"/>
              </a:lnSpc>
            </a:pPr>
            <a:endParaRPr lang="es-ES_tradnl" sz="1400" dirty="0">
              <a:solidFill>
                <a:srgbClr val="002060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7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9"/>
          <p:cNvSpPr txBox="1"/>
          <p:nvPr/>
        </p:nvSpPr>
        <p:spPr>
          <a:xfrm>
            <a:off x="107504" y="2056492"/>
            <a:ext cx="20162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Reunión  de Lanzamiento de fase 2 con el MT.</a:t>
            </a:r>
          </a:p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Determinación del nivel de desarrollo del MT según Modelo Equipos Alto Desempeño.</a:t>
            </a:r>
          </a:p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Diagnóstico individual de estilos de nuevos miembros del MT con LSI.</a:t>
            </a:r>
          </a:p>
        </p:txBody>
      </p:sp>
      <p:sp>
        <p:nvSpPr>
          <p:cNvPr id="10" name="Freeform 9"/>
          <p:cNvSpPr/>
          <p:nvPr/>
        </p:nvSpPr>
        <p:spPr>
          <a:xfrm>
            <a:off x="323529" y="1264404"/>
            <a:ext cx="2160239" cy="716905"/>
          </a:xfrm>
          <a:custGeom>
            <a:avLst/>
            <a:gdLst>
              <a:gd name="connsiteX0" fmla="*/ 0 w 2833889"/>
              <a:gd name="connsiteY0" fmla="*/ 0 h 1132765"/>
              <a:gd name="connsiteX1" fmla="*/ 2267507 w 2833889"/>
              <a:gd name="connsiteY1" fmla="*/ 0 h 1132765"/>
              <a:gd name="connsiteX2" fmla="*/ 2833889 w 2833889"/>
              <a:gd name="connsiteY2" fmla="*/ 566383 h 1132765"/>
              <a:gd name="connsiteX3" fmla="*/ 2267507 w 2833889"/>
              <a:gd name="connsiteY3" fmla="*/ 1132765 h 1132765"/>
              <a:gd name="connsiteX4" fmla="*/ 0 w 2833889"/>
              <a:gd name="connsiteY4" fmla="*/ 1132765 h 1132765"/>
              <a:gd name="connsiteX5" fmla="*/ 566383 w 2833889"/>
              <a:gd name="connsiteY5" fmla="*/ 566383 h 1132765"/>
              <a:gd name="connsiteX6" fmla="*/ 0 w 2833889"/>
              <a:gd name="connsiteY6" fmla="*/ 0 h 113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3889" h="1132765">
                <a:moveTo>
                  <a:pt x="0" y="0"/>
                </a:moveTo>
                <a:lnTo>
                  <a:pt x="2267507" y="0"/>
                </a:lnTo>
                <a:lnTo>
                  <a:pt x="2833889" y="566383"/>
                </a:lnTo>
                <a:lnTo>
                  <a:pt x="2267507" y="1132765"/>
                </a:lnTo>
                <a:lnTo>
                  <a:pt x="0" y="1132765"/>
                </a:lnTo>
                <a:lnTo>
                  <a:pt x="566383" y="5663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1795" tIns="19003" rIns="443789" bIns="19003" numCol="1" spcCol="1270" anchor="ctr" anchorCtr="0">
            <a:noAutofit/>
          </a:bodyPr>
          <a:lstStyle/>
          <a:p>
            <a:pPr algn="ctr" defTabSz="633413">
              <a:lnSpc>
                <a:spcPct val="90000"/>
              </a:lnSpc>
              <a:spcAft>
                <a:spcPct val="35000"/>
              </a:spcAft>
            </a:pPr>
            <a:r>
              <a:rPr lang="es-ES" sz="1425" dirty="0"/>
              <a:t>1. DIAGNÓSTICO  II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39752" y="1278926"/>
            <a:ext cx="2016224" cy="702383"/>
          </a:xfrm>
          <a:custGeom>
            <a:avLst/>
            <a:gdLst>
              <a:gd name="connsiteX0" fmla="*/ 0 w 2833889"/>
              <a:gd name="connsiteY0" fmla="*/ 0 h 1132765"/>
              <a:gd name="connsiteX1" fmla="*/ 2267507 w 2833889"/>
              <a:gd name="connsiteY1" fmla="*/ 0 h 1132765"/>
              <a:gd name="connsiteX2" fmla="*/ 2833889 w 2833889"/>
              <a:gd name="connsiteY2" fmla="*/ 566383 h 1132765"/>
              <a:gd name="connsiteX3" fmla="*/ 2267507 w 2833889"/>
              <a:gd name="connsiteY3" fmla="*/ 1132765 h 1132765"/>
              <a:gd name="connsiteX4" fmla="*/ 0 w 2833889"/>
              <a:gd name="connsiteY4" fmla="*/ 1132765 h 1132765"/>
              <a:gd name="connsiteX5" fmla="*/ 566383 w 2833889"/>
              <a:gd name="connsiteY5" fmla="*/ 566383 h 1132765"/>
              <a:gd name="connsiteX6" fmla="*/ 0 w 2833889"/>
              <a:gd name="connsiteY6" fmla="*/ 0 h 113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3889" h="1132765">
                <a:moveTo>
                  <a:pt x="0" y="0"/>
                </a:moveTo>
                <a:lnTo>
                  <a:pt x="2267507" y="0"/>
                </a:lnTo>
                <a:lnTo>
                  <a:pt x="2833889" y="566383"/>
                </a:lnTo>
                <a:lnTo>
                  <a:pt x="2267507" y="1132765"/>
                </a:lnTo>
                <a:lnTo>
                  <a:pt x="0" y="1132765"/>
                </a:lnTo>
                <a:lnTo>
                  <a:pt x="566383" y="5663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451115"/>
              <a:satOff val="-3409"/>
              <a:lumOff val="-1307"/>
              <a:alphaOff val="0"/>
            </a:schemeClr>
          </a:fillRef>
          <a:effectRef idx="0">
            <a:schemeClr val="accent5">
              <a:hueOff val="-2451115"/>
              <a:satOff val="-3409"/>
              <a:lumOff val="-13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1795" tIns="19003" rIns="443789" bIns="19003" numCol="1" spcCol="1270" anchor="ctr" anchorCtr="0">
            <a:noAutofit/>
          </a:bodyPr>
          <a:lstStyle/>
          <a:p>
            <a:pPr algn="ctr" defTabSz="633413">
              <a:lnSpc>
                <a:spcPct val="90000"/>
              </a:lnSpc>
              <a:spcAft>
                <a:spcPct val="35000"/>
              </a:spcAft>
            </a:pPr>
            <a:r>
              <a:rPr lang="es-ES" sz="1425" dirty="0"/>
              <a:t>2. TOMA DE CONSCIENCIA</a:t>
            </a:r>
          </a:p>
        </p:txBody>
      </p:sp>
      <p:sp>
        <p:nvSpPr>
          <p:cNvPr id="12" name="Freeform 11"/>
          <p:cNvSpPr/>
          <p:nvPr/>
        </p:nvSpPr>
        <p:spPr>
          <a:xfrm>
            <a:off x="4139952" y="1278926"/>
            <a:ext cx="2808312" cy="702383"/>
          </a:xfrm>
          <a:custGeom>
            <a:avLst/>
            <a:gdLst>
              <a:gd name="connsiteX0" fmla="*/ 0 w 2833889"/>
              <a:gd name="connsiteY0" fmla="*/ 0 h 1132765"/>
              <a:gd name="connsiteX1" fmla="*/ 2267507 w 2833889"/>
              <a:gd name="connsiteY1" fmla="*/ 0 h 1132765"/>
              <a:gd name="connsiteX2" fmla="*/ 2833889 w 2833889"/>
              <a:gd name="connsiteY2" fmla="*/ 566383 h 1132765"/>
              <a:gd name="connsiteX3" fmla="*/ 2267507 w 2833889"/>
              <a:gd name="connsiteY3" fmla="*/ 1132765 h 1132765"/>
              <a:gd name="connsiteX4" fmla="*/ 0 w 2833889"/>
              <a:gd name="connsiteY4" fmla="*/ 1132765 h 1132765"/>
              <a:gd name="connsiteX5" fmla="*/ 566383 w 2833889"/>
              <a:gd name="connsiteY5" fmla="*/ 566383 h 1132765"/>
              <a:gd name="connsiteX6" fmla="*/ 0 w 2833889"/>
              <a:gd name="connsiteY6" fmla="*/ 0 h 113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3889" h="1132765">
                <a:moveTo>
                  <a:pt x="0" y="0"/>
                </a:moveTo>
                <a:lnTo>
                  <a:pt x="2267507" y="0"/>
                </a:lnTo>
                <a:lnTo>
                  <a:pt x="2833889" y="566383"/>
                </a:lnTo>
                <a:lnTo>
                  <a:pt x="2267507" y="1132765"/>
                </a:lnTo>
                <a:lnTo>
                  <a:pt x="0" y="1132765"/>
                </a:lnTo>
                <a:lnTo>
                  <a:pt x="566383" y="5663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4902231"/>
              <a:satOff val="-6819"/>
              <a:lumOff val="-2615"/>
              <a:alphaOff val="0"/>
            </a:schemeClr>
          </a:fillRef>
          <a:effectRef idx="0">
            <a:schemeClr val="accent5">
              <a:hueOff val="-4902231"/>
              <a:satOff val="-6819"/>
              <a:lumOff val="-26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1795" tIns="19003" rIns="443789" bIns="19003" numCol="1" spcCol="1270" anchor="ctr" anchorCtr="0">
            <a:noAutofit/>
          </a:bodyPr>
          <a:lstStyle/>
          <a:p>
            <a:pPr algn="ctr" defTabSz="633413">
              <a:lnSpc>
                <a:spcPct val="90000"/>
              </a:lnSpc>
              <a:spcAft>
                <a:spcPct val="35000"/>
              </a:spcAft>
            </a:pPr>
            <a:r>
              <a:rPr lang="es-ES" sz="1425" dirty="0"/>
              <a:t>3. ALINEAMIENTO Y DESARROLLO DE HABILIDADES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395536" y="5464140"/>
            <a:ext cx="6552728" cy="341124"/>
          </a:xfrm>
          <a:custGeom>
            <a:avLst/>
            <a:gdLst>
              <a:gd name="connsiteX0" fmla="*/ 0 w 2833889"/>
              <a:gd name="connsiteY0" fmla="*/ 0 h 1132765"/>
              <a:gd name="connsiteX1" fmla="*/ 2267507 w 2833889"/>
              <a:gd name="connsiteY1" fmla="*/ 0 h 1132765"/>
              <a:gd name="connsiteX2" fmla="*/ 2833889 w 2833889"/>
              <a:gd name="connsiteY2" fmla="*/ 566383 h 1132765"/>
              <a:gd name="connsiteX3" fmla="*/ 2267507 w 2833889"/>
              <a:gd name="connsiteY3" fmla="*/ 1132765 h 1132765"/>
              <a:gd name="connsiteX4" fmla="*/ 0 w 2833889"/>
              <a:gd name="connsiteY4" fmla="*/ 1132765 h 1132765"/>
              <a:gd name="connsiteX5" fmla="*/ 566383 w 2833889"/>
              <a:gd name="connsiteY5" fmla="*/ 566383 h 1132765"/>
              <a:gd name="connsiteX6" fmla="*/ 0 w 2833889"/>
              <a:gd name="connsiteY6" fmla="*/ 0 h 113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3889" h="1132765">
                <a:moveTo>
                  <a:pt x="0" y="0"/>
                </a:moveTo>
                <a:lnTo>
                  <a:pt x="2267507" y="0"/>
                </a:lnTo>
                <a:lnTo>
                  <a:pt x="2833889" y="566383"/>
                </a:lnTo>
                <a:lnTo>
                  <a:pt x="2267507" y="1132765"/>
                </a:lnTo>
                <a:lnTo>
                  <a:pt x="0" y="1132765"/>
                </a:lnTo>
                <a:lnTo>
                  <a:pt x="566383" y="5663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7353345"/>
              <a:satOff val="-10228"/>
              <a:lumOff val="-3922"/>
              <a:alphaOff val="0"/>
            </a:schemeClr>
          </a:fillRef>
          <a:effectRef idx="0">
            <a:schemeClr val="accent5">
              <a:hueOff val="-7353345"/>
              <a:satOff val="-10228"/>
              <a:lumOff val="-392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1795" tIns="19003" rIns="443789" bIns="19003" numCol="1" spcCol="1270" anchor="ctr" anchorCtr="0">
            <a:noAutofit/>
          </a:bodyPr>
          <a:lstStyle/>
          <a:p>
            <a:pPr algn="ctr" defTabSz="633413">
              <a:lnSpc>
                <a:spcPct val="90000"/>
              </a:lnSpc>
              <a:spcAft>
                <a:spcPct val="35000"/>
              </a:spcAft>
            </a:pPr>
            <a:r>
              <a:rPr lang="es-ES" sz="1425" dirty="0"/>
              <a:t>4. COACHING [APLICACIONES]</a:t>
            </a:r>
          </a:p>
        </p:txBody>
      </p:sp>
      <p:sp>
        <p:nvSpPr>
          <p:cNvPr id="19" name="TextBox 39"/>
          <p:cNvSpPr txBox="1"/>
          <p:nvPr/>
        </p:nvSpPr>
        <p:spPr>
          <a:xfrm>
            <a:off x="2158551" y="2077115"/>
            <a:ext cx="2016223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Devolución de los resultados del diagnóstico de Equipo (en Taller 1).</a:t>
            </a:r>
          </a:p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Presentación resultados diagnóstico LSI a nuevos miembros MT. Análisis vs. Cultura Deseada del MT.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</a:pPr>
            <a:endParaRPr lang="es-AR" sz="1300" dirty="0">
              <a:solidFill>
                <a:srgbClr val="002D62"/>
              </a:solidFill>
              <a:latin typeface="Arial"/>
              <a:cs typeface="Arial"/>
            </a:endParaRPr>
          </a:p>
        </p:txBody>
      </p:sp>
      <p:sp>
        <p:nvSpPr>
          <p:cNvPr id="20" name="TextBox 39"/>
          <p:cNvSpPr txBox="1"/>
          <p:nvPr/>
        </p:nvSpPr>
        <p:spPr>
          <a:xfrm>
            <a:off x="4209598" y="2120101"/>
            <a:ext cx="2808312" cy="334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4" indent="-139304">
              <a:spcBef>
                <a:spcPts val="450"/>
              </a:spcBef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“Taller 1” de 2  días de duración. </a:t>
            </a:r>
          </a:p>
          <a:p>
            <a:pPr marL="139304" indent="-139304">
              <a:spcBef>
                <a:spcPts val="450"/>
              </a:spcBef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Se  facilitarán conversaciones de alineamiento alrededor de ejes clave del desempeño de equipo.</a:t>
            </a:r>
          </a:p>
          <a:p>
            <a:pPr marL="139304" indent="-139304">
              <a:spcBef>
                <a:spcPts val="450"/>
              </a:spcBef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Se avanzará en el desarrollo de habilidades individuales y grupales coherentes con la Cultura Deseada del MT.</a:t>
            </a:r>
          </a:p>
          <a:p>
            <a:pPr marL="139304" indent="-139304">
              <a:spcBef>
                <a:spcPts val="450"/>
              </a:spcBef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+ 2 días adicionales de Taller, en formatos temporales a definir:</a:t>
            </a:r>
          </a:p>
          <a:p>
            <a:pPr marL="449263" lvl="1" indent="-285750">
              <a:spcBef>
                <a:spcPts val="45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1 Taller x 2 días</a:t>
            </a:r>
          </a:p>
          <a:p>
            <a:pPr marL="449263" lvl="1" indent="-285750">
              <a:spcBef>
                <a:spcPts val="45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2 Talleres x 1 día c/u</a:t>
            </a:r>
          </a:p>
          <a:p>
            <a:pPr marL="449263" lvl="1" indent="-285750">
              <a:spcBef>
                <a:spcPts val="45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1 T x 1 día + 2 T x ½ día c/u</a:t>
            </a:r>
          </a:p>
          <a:p>
            <a:pPr marL="449263" lvl="1" indent="-285750">
              <a:spcBef>
                <a:spcPts val="450"/>
              </a:spcBef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4 T x ½ día c/u</a:t>
            </a:r>
          </a:p>
        </p:txBody>
      </p:sp>
      <p:sp>
        <p:nvSpPr>
          <p:cNvPr id="21" name="TextBox 39"/>
          <p:cNvSpPr txBox="1"/>
          <p:nvPr/>
        </p:nvSpPr>
        <p:spPr>
          <a:xfrm>
            <a:off x="179512" y="5872916"/>
            <a:ext cx="66926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4" indent="-139304" algn="ctr">
              <a:spcBef>
                <a:spcPts val="450"/>
              </a:spcBef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dirty="0">
                <a:solidFill>
                  <a:srgbClr val="002D62"/>
                </a:solidFill>
                <a:latin typeface="Arial"/>
                <a:cs typeface="Arial"/>
              </a:rPr>
              <a:t>Sesiones de acompañamiento individual de Max B.</a:t>
            </a:r>
          </a:p>
        </p:txBody>
      </p:sp>
      <p:sp>
        <p:nvSpPr>
          <p:cNvPr id="8" name="Shape 262"/>
          <p:cNvSpPr/>
          <p:nvPr/>
        </p:nvSpPr>
        <p:spPr>
          <a:xfrm>
            <a:off x="0" y="332656"/>
            <a:ext cx="9144000" cy="615315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34289" rIns="34289" anchor="ctr"/>
          <a:lstStyle/>
          <a:p>
            <a:endParaRPr dirty="0"/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206283" y="496794"/>
            <a:ext cx="8473693" cy="356543"/>
          </a:xfrm>
          <a:prstGeom prst="rect">
            <a:avLst/>
          </a:prstGeom>
          <a:extLst/>
        </p:spPr>
        <p:txBody>
          <a:bodyPr/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Clr>
                <a:srgbClr val="FBB03F"/>
              </a:buClr>
              <a:buFont typeface="Arial" panose="020B0604020202020204" pitchFamily="34" charset="0"/>
              <a:buNone/>
              <a:defRPr sz="2000" i="1">
                <a:solidFill>
                  <a:srgbClr val="FBB03F"/>
                </a:solidFill>
                <a:latin typeface="Arial" charset="0"/>
                <a:ea typeface="Arial" charset="0"/>
                <a:cs typeface="Arial" charset="0"/>
              </a:defRPr>
            </a:lvl1pPr>
            <a:lvl2pPr marL="228600" lvl="1" indent="-228600">
              <a:lnSpc>
                <a:spcPct val="90000"/>
              </a:lnSpc>
              <a:spcBef>
                <a:spcPts val="1000"/>
              </a:spcBef>
              <a:buClr>
                <a:srgbClr val="FBB03F"/>
              </a:buClr>
              <a:buFont typeface="Arial" panose="020B0604020202020204" pitchFamily="34" charset="0"/>
              <a:buChar char="•"/>
              <a:defRPr sz="2000">
                <a:solidFill>
                  <a:srgbClr val="002D62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/>
            <a:r>
              <a:rPr lang="es-ES" sz="2100" b="1" i="0" dirty="0">
                <a:solidFill>
                  <a:schemeClr val="bg1"/>
                </a:solidFill>
              </a:rPr>
              <a:t>2.- DETALLE DEL PROGRAMA – FASE 2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B78C6AF7-DDDC-4297-9434-D38C78198978}"/>
              </a:ext>
            </a:extLst>
          </p:cNvPr>
          <p:cNvSpPr/>
          <p:nvPr/>
        </p:nvSpPr>
        <p:spPr>
          <a:xfrm>
            <a:off x="7017910" y="1310893"/>
            <a:ext cx="1946578" cy="702383"/>
          </a:xfrm>
          <a:custGeom>
            <a:avLst/>
            <a:gdLst>
              <a:gd name="connsiteX0" fmla="*/ 0 w 2833889"/>
              <a:gd name="connsiteY0" fmla="*/ 0 h 1132765"/>
              <a:gd name="connsiteX1" fmla="*/ 2267507 w 2833889"/>
              <a:gd name="connsiteY1" fmla="*/ 0 h 1132765"/>
              <a:gd name="connsiteX2" fmla="*/ 2833889 w 2833889"/>
              <a:gd name="connsiteY2" fmla="*/ 566383 h 1132765"/>
              <a:gd name="connsiteX3" fmla="*/ 2267507 w 2833889"/>
              <a:gd name="connsiteY3" fmla="*/ 1132765 h 1132765"/>
              <a:gd name="connsiteX4" fmla="*/ 0 w 2833889"/>
              <a:gd name="connsiteY4" fmla="*/ 1132765 h 1132765"/>
              <a:gd name="connsiteX5" fmla="*/ 566383 w 2833889"/>
              <a:gd name="connsiteY5" fmla="*/ 566383 h 1132765"/>
              <a:gd name="connsiteX6" fmla="*/ 0 w 2833889"/>
              <a:gd name="connsiteY6" fmla="*/ 0 h 113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3889" h="1132765">
                <a:moveTo>
                  <a:pt x="0" y="0"/>
                </a:moveTo>
                <a:lnTo>
                  <a:pt x="2267507" y="0"/>
                </a:lnTo>
                <a:lnTo>
                  <a:pt x="2833889" y="566383"/>
                </a:lnTo>
                <a:lnTo>
                  <a:pt x="2267507" y="1132765"/>
                </a:lnTo>
                <a:lnTo>
                  <a:pt x="0" y="1132765"/>
                </a:lnTo>
                <a:lnTo>
                  <a:pt x="566383" y="5663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4902231"/>
              <a:satOff val="-6819"/>
              <a:lumOff val="-2615"/>
              <a:alphaOff val="0"/>
            </a:schemeClr>
          </a:fillRef>
          <a:effectRef idx="0">
            <a:schemeClr val="accent5">
              <a:hueOff val="-4902231"/>
              <a:satOff val="-6819"/>
              <a:lumOff val="-261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1795" tIns="19003" rIns="443789" bIns="19003" numCol="1" spcCol="1270" anchor="ctr" anchorCtr="0">
            <a:noAutofit/>
          </a:bodyPr>
          <a:lstStyle/>
          <a:p>
            <a:pPr algn="ctr" defTabSz="633413">
              <a:lnSpc>
                <a:spcPct val="90000"/>
              </a:lnSpc>
              <a:spcAft>
                <a:spcPct val="35000"/>
              </a:spcAft>
            </a:pPr>
            <a:r>
              <a:rPr lang="es-ES" sz="1400" i="1" dirty="0">
                <a:solidFill>
                  <a:schemeClr val="tx1"/>
                </a:solidFill>
              </a:rPr>
              <a:t>Alt. 2: </a:t>
            </a:r>
            <a:r>
              <a:rPr lang="es-ES" sz="1200" i="1" dirty="0">
                <a:solidFill>
                  <a:schemeClr val="tx1"/>
                </a:solidFill>
              </a:rPr>
              <a:t>FACILITACIÓN REUNIÓN/ES MT</a:t>
            </a:r>
            <a:endParaRPr lang="es-ES" sz="1400" i="1" dirty="0">
              <a:solidFill>
                <a:schemeClr val="tx1"/>
              </a:solidFill>
            </a:endParaRPr>
          </a:p>
        </p:txBody>
      </p:sp>
      <p:sp>
        <p:nvSpPr>
          <p:cNvPr id="15" name="TextBox 39">
            <a:extLst>
              <a:ext uri="{FF2B5EF4-FFF2-40B4-BE49-F238E27FC236}">
                <a16:creationId xmlns:a16="http://schemas.microsoft.com/office/drawing/2014/main" id="{DBDED689-DEE7-4CA2-82E1-89DEA3412FEE}"/>
              </a:ext>
            </a:extLst>
          </p:cNvPr>
          <p:cNvSpPr txBox="1"/>
          <p:nvPr/>
        </p:nvSpPr>
        <p:spPr>
          <a:xfrm>
            <a:off x="6985449" y="2204571"/>
            <a:ext cx="201622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9304" indent="-139304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Arial" pitchFamily="34" charset="0"/>
              <a:buChar char="•"/>
            </a:pPr>
            <a:r>
              <a:rPr lang="es-AR" sz="1300" i="1" dirty="0">
                <a:solidFill>
                  <a:srgbClr val="002D62"/>
                </a:solidFill>
                <a:latin typeface="Arial"/>
                <a:cs typeface="Arial"/>
              </a:rPr>
              <a:t>Alternativa  al uso de los 2 días adicionales de Taller:</a:t>
            </a:r>
          </a:p>
          <a:p>
            <a:pPr marL="508000" indent="-285750"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s-AR" sz="1300" i="1" dirty="0">
                <a:solidFill>
                  <a:srgbClr val="002D62"/>
                </a:solidFill>
                <a:latin typeface="Arial"/>
                <a:cs typeface="Arial"/>
              </a:rPr>
              <a:t>Facilitación parcial o total de reuniones del MT.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000"/>
              </a:buClr>
            </a:pPr>
            <a:endParaRPr lang="es-AR" sz="1300" dirty="0">
              <a:solidFill>
                <a:srgbClr val="002D62"/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81CEDC-8057-455D-A185-5354FC42B5F7}"/>
              </a:ext>
            </a:extLst>
          </p:cNvPr>
          <p:cNvSpPr/>
          <p:nvPr/>
        </p:nvSpPr>
        <p:spPr>
          <a:xfrm>
            <a:off x="7035262" y="1196752"/>
            <a:ext cx="1981401" cy="49685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CD5B8F-06C3-4C63-A704-D8C4F1C36476}"/>
              </a:ext>
            </a:extLst>
          </p:cNvPr>
          <p:cNvSpPr/>
          <p:nvPr/>
        </p:nvSpPr>
        <p:spPr>
          <a:xfrm>
            <a:off x="92514" y="1214098"/>
            <a:ext cx="6877945" cy="4951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4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 bldLvl="5"/>
      <p:bldP spid="10" grpId="0" animBg="1"/>
      <p:bldP spid="11" grpId="0" animBg="1"/>
      <p:bldP spid="12" grpId="0" build="p" bldLvl="5" animBg="1"/>
      <p:bldP spid="13" grpId="0" animBg="1"/>
      <p:bldP spid="19" grpId="0" build="p" bldLvl="5"/>
      <p:bldP spid="20" grpId="0" build="p" bldLvl="5"/>
      <p:bldP spid="21" grpId="0" build="p" bldLvl="5"/>
      <p:bldP spid="14" grpId="0" build="p" bldLvl="5" animBg="1"/>
      <p:bldP spid="15" grpId="0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B23CDE-D345-4799-864B-CD5A16A1B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73358"/>
              </p:ext>
            </p:extLst>
          </p:nvPr>
        </p:nvGraphicFramePr>
        <p:xfrm>
          <a:off x="1698202" y="1196752"/>
          <a:ext cx="6402190" cy="4278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842">
                  <a:extLst>
                    <a:ext uri="{9D8B030D-6E8A-4147-A177-3AD203B41FA5}">
                      <a16:colId xmlns:a16="http://schemas.microsoft.com/office/drawing/2014/main" val="2363343582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1001181671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4259359495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490103195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017325576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717646410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590245119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4257273100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1871638854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920447657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3104006304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1954506806"/>
                    </a:ext>
                  </a:extLst>
                </a:gridCol>
                <a:gridCol w="356029">
                  <a:extLst>
                    <a:ext uri="{9D8B030D-6E8A-4147-A177-3AD203B41FA5}">
                      <a16:colId xmlns:a16="http://schemas.microsoft.com/office/drawing/2014/main" val="1823438497"/>
                    </a:ext>
                  </a:extLst>
                </a:gridCol>
              </a:tblGrid>
              <a:tr h="392668">
                <a:tc>
                  <a:txBody>
                    <a:bodyPr/>
                    <a:lstStyle/>
                    <a:p>
                      <a:pPr algn="r"/>
                      <a:r>
                        <a:rPr lang="es-AR" sz="1000" dirty="0"/>
                        <a:t>MES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1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2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3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4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5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000" dirty="0"/>
                        <a:t>6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65029"/>
                  </a:ext>
                </a:extLst>
              </a:tr>
              <a:tr h="347835">
                <a:tc>
                  <a:txBody>
                    <a:bodyPr/>
                    <a:lstStyle/>
                    <a:p>
                      <a:r>
                        <a:rPr lang="es-AR" sz="1100" dirty="0"/>
                        <a:t>1. LÍDER DEL MT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 gridSpan="12"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841969"/>
                  </a:ext>
                </a:extLst>
              </a:tr>
              <a:tr h="425390">
                <a:tc>
                  <a:txBody>
                    <a:bodyPr/>
                    <a:lstStyle/>
                    <a:p>
                      <a:pPr algn="r"/>
                      <a:r>
                        <a:rPr lang="es-AR" sz="800" dirty="0"/>
                        <a:t>6 SESIONES DE COACHING INDIVIDUAL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99622597"/>
                  </a:ext>
                </a:extLst>
              </a:tr>
              <a:tr h="347835">
                <a:tc>
                  <a:txBody>
                    <a:bodyPr/>
                    <a:lstStyle/>
                    <a:p>
                      <a:r>
                        <a:rPr lang="es-AR" sz="1100" dirty="0"/>
                        <a:t>2. MT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 gridSpan="12"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079777"/>
                  </a:ext>
                </a:extLst>
              </a:tr>
              <a:tr h="347835">
                <a:tc>
                  <a:txBody>
                    <a:bodyPr/>
                    <a:lstStyle/>
                    <a:p>
                      <a:pPr algn="r"/>
                      <a:r>
                        <a:rPr lang="es-AR" sz="800" dirty="0"/>
                        <a:t>REUNIÓN DE RE-LANZAMIENTO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740317157"/>
                  </a:ext>
                </a:extLst>
              </a:tr>
              <a:tr h="347835">
                <a:tc>
                  <a:txBody>
                    <a:bodyPr/>
                    <a:lstStyle/>
                    <a:p>
                      <a:pPr algn="r"/>
                      <a:r>
                        <a:rPr lang="es-AR" sz="800" dirty="0"/>
                        <a:t>DIAGNÓSTICO EQUIPO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34850250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pPr algn="r"/>
                      <a:r>
                        <a:rPr lang="es-AR" sz="800" dirty="0"/>
                        <a:t>“LSI 1” PARA 2 DIRECTORES NUEVOS, + SESIÓN DE DEVOLUCIÓN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47750700"/>
                  </a:ext>
                </a:extLst>
              </a:tr>
              <a:tr h="347835">
                <a:tc>
                  <a:txBody>
                    <a:bodyPr/>
                    <a:lstStyle/>
                    <a:p>
                      <a:pPr algn="r"/>
                      <a:r>
                        <a:rPr lang="es-AR" sz="800" b="1" u="sng" dirty="0"/>
                        <a:t>Opción 1</a:t>
                      </a:r>
                      <a:r>
                        <a:rPr lang="es-AR" sz="800" dirty="0"/>
                        <a:t>: 2 TALLERES DE 2 DÍAS</a:t>
                      </a:r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19339802"/>
                  </a:ext>
                </a:extLst>
              </a:tr>
              <a:tr h="365099">
                <a:tc>
                  <a:txBody>
                    <a:bodyPr/>
                    <a:lstStyle/>
                    <a:p>
                      <a:pPr algn="r"/>
                      <a:r>
                        <a:rPr lang="es-AR" sz="800" b="1" u="sng" dirty="0"/>
                        <a:t>Opción 2</a:t>
                      </a:r>
                      <a:r>
                        <a:rPr lang="es-AR" sz="800" dirty="0"/>
                        <a:t>: 1 TALLER DE 2 DÍAS+ 2 TALLERES DE 1 DÍA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15519830"/>
                  </a:ext>
                </a:extLst>
              </a:tr>
              <a:tr h="495491">
                <a:tc>
                  <a:txBody>
                    <a:bodyPr/>
                    <a:lstStyle/>
                    <a:p>
                      <a:pPr algn="r"/>
                      <a:r>
                        <a:rPr lang="es-AR" sz="800" b="1" u="sng" dirty="0"/>
                        <a:t>Opción 3</a:t>
                      </a:r>
                      <a:r>
                        <a:rPr lang="es-AR" sz="800" dirty="0"/>
                        <a:t>: 1 TALLER DE 2 DÍAS+ 1 TALLER DE 1 DÍA + 2 ENCUENTROS DE ½ día. </a:t>
                      </a:r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08823937"/>
                  </a:ext>
                </a:extLst>
              </a:tr>
              <a:tr h="49549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800" b="1" u="sng" dirty="0"/>
                        <a:t>Opción 4</a:t>
                      </a:r>
                      <a:r>
                        <a:rPr lang="es-AR" sz="800" dirty="0"/>
                        <a:t>: 1 TALLER DE 2 DÍAS+ 4 ENCUENTROS DE ½ DÍA. </a:t>
                      </a:r>
                      <a:endParaRPr lang="en-US" sz="800" dirty="0"/>
                    </a:p>
                    <a:p>
                      <a:pPr algn="r"/>
                      <a:endParaRPr lang="en-US" sz="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68580" marR="68580" marT="34290" marB="34290" anchor="ctr">
                    <a:solidFill>
                      <a:srgbClr val="002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37950"/>
                  </a:ext>
                </a:extLst>
              </a:tr>
            </a:tbl>
          </a:graphicData>
        </a:graphic>
      </p:graphicFrame>
      <p:sp>
        <p:nvSpPr>
          <p:cNvPr id="4" name="Textbox 1">
            <a:extLst>
              <a:ext uri="{FF2B5EF4-FFF2-40B4-BE49-F238E27FC236}">
                <a16:creationId xmlns:a16="http://schemas.microsoft.com/office/drawing/2014/main" id="{D2556B19-2D63-4004-AE8E-37685EA54513}"/>
              </a:ext>
            </a:extLst>
          </p:cNvPr>
          <p:cNvSpPr/>
          <p:nvPr/>
        </p:nvSpPr>
        <p:spPr>
          <a:xfrm>
            <a:off x="611560" y="291354"/>
            <a:ext cx="6285001" cy="833390"/>
          </a:xfrm>
          <a:prstGeom prst="rect">
            <a:avLst/>
          </a:prstGeom>
        </p:spPr>
        <p:txBody>
          <a:bodyPr wrap="square" lIns="101431" tIns="50715" rIns="101431" bIns="50715">
            <a:spAutoFit/>
          </a:bodyPr>
          <a:lstStyle/>
          <a:p>
            <a:pPr>
              <a:lnSpc>
                <a:spcPct val="125000"/>
              </a:lnSpc>
            </a:pPr>
            <a:r>
              <a:rPr lang="es-ES" sz="2400" dirty="0">
                <a:solidFill>
                  <a:srgbClr val="002060"/>
                </a:solidFill>
                <a:ea typeface="Arial" charset="0"/>
              </a:rPr>
              <a:t>CRONOGRAMA TENTATIVO</a:t>
            </a:r>
          </a:p>
          <a:p>
            <a:pPr>
              <a:lnSpc>
                <a:spcPct val="125000"/>
              </a:lnSpc>
            </a:pPr>
            <a:endParaRPr lang="es-ES_tradnl" sz="1400" dirty="0">
              <a:solidFill>
                <a:srgbClr val="002060"/>
              </a:solidFill>
              <a:ea typeface="Arial" charset="0"/>
            </a:endParaRPr>
          </a:p>
        </p:txBody>
      </p:sp>
      <p:cxnSp>
        <p:nvCxnSpPr>
          <p:cNvPr id="6" name="27 Conector recto">
            <a:extLst>
              <a:ext uri="{FF2B5EF4-FFF2-40B4-BE49-F238E27FC236}">
                <a16:creationId xmlns:a16="http://schemas.microsoft.com/office/drawing/2014/main" id="{329E47D9-E81D-4FDE-AF88-E70EC56FB8EB}"/>
              </a:ext>
            </a:extLst>
          </p:cNvPr>
          <p:cNvCxnSpPr/>
          <p:nvPr/>
        </p:nvCxnSpPr>
        <p:spPr>
          <a:xfrm>
            <a:off x="499364" y="135012"/>
            <a:ext cx="0" cy="854355"/>
          </a:xfrm>
          <a:prstGeom prst="line">
            <a:avLst/>
          </a:prstGeom>
          <a:noFill/>
          <a:ln w="28575">
            <a:solidFill>
              <a:srgbClr val="002060"/>
            </a:solidFill>
          </a:ln>
        </p:spPr>
      </p:cxnSp>
    </p:spTree>
    <p:extLst>
      <p:ext uri="{BB962C8B-B14F-4D97-AF65-F5344CB8AC3E}">
        <p14:creationId xmlns:p14="http://schemas.microsoft.com/office/powerpoint/2010/main" val="188356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| </a:t>
            </a:r>
            <a:fld id="{52CED5A2-CA12-4D68-800B-075320E9DEDA}" type="slidenum">
              <a:rPr lang="en-US">
                <a:solidFill>
                  <a:srgbClr val="B2B2B2"/>
                </a:solidFill>
              </a:rPr>
              <a:pPr>
                <a:defRPr/>
              </a:pPr>
              <a:t>6</a:t>
            </a:fld>
            <a:endParaRPr lang="en-US">
              <a:solidFill>
                <a:srgbClr val="B2B2B2"/>
              </a:solidFill>
            </a:endParaRPr>
          </a:p>
        </p:txBody>
      </p:sp>
      <p:sp>
        <p:nvSpPr>
          <p:cNvPr id="50" name="Slide Number Placeholder 3"/>
          <p:cNvSpPr txBox="1">
            <a:spLocks noGrp="1"/>
          </p:cNvSpPr>
          <p:nvPr/>
        </p:nvSpPr>
        <p:spPr bwMode="auto">
          <a:xfrm>
            <a:off x="6400800" y="5800725"/>
            <a:ext cx="1600200" cy="2000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US" sz="750" b="1">
                <a:solidFill>
                  <a:srgbClr val="FBB03F"/>
                </a:solidFill>
                <a:sym typeface="Trebuchet MS" pitchFamily="34" charset="0"/>
              </a:rPr>
              <a:t>| </a:t>
            </a:r>
            <a:fld id="{CC8E874F-4474-4E65-BB94-28883F52C65E}" type="slidenum">
              <a:rPr lang="en-US" sz="750" b="1">
                <a:solidFill>
                  <a:srgbClr val="B2B2B2"/>
                </a:solidFill>
                <a:sym typeface="Trebuchet MS" pitchFamily="34" charset="0"/>
              </a:rPr>
              <a:pPr algn="r">
                <a:defRPr/>
              </a:pPr>
              <a:t>6</a:t>
            </a:fld>
            <a:endParaRPr lang="en-US" sz="750" b="1">
              <a:solidFill>
                <a:srgbClr val="B2B2B2"/>
              </a:solidFill>
              <a:sym typeface="Trebuchet MS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746555" y="1489648"/>
            <a:ext cx="4647335" cy="4226787"/>
            <a:chOff x="873" y="451"/>
            <a:chExt cx="4345" cy="4102"/>
          </a:xfrm>
        </p:grpSpPr>
        <p:sp>
          <p:nvSpPr>
            <p:cNvPr id="108549" name="Text Box 4"/>
            <p:cNvSpPr txBox="1">
              <a:spLocks noChangeArrowheads="1"/>
            </p:cNvSpPr>
            <p:nvPr/>
          </p:nvSpPr>
          <p:spPr bwMode="auto">
            <a:xfrm>
              <a:off x="1156" y="1706"/>
              <a:ext cx="2450" cy="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s-AR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122" y="672"/>
              <a:ext cx="3357" cy="3375"/>
              <a:chOff x="1158" y="573"/>
              <a:chExt cx="3246" cy="3264"/>
            </a:xfrm>
          </p:grpSpPr>
          <p:sp>
            <p:nvSpPr>
              <p:cNvPr id="108591" name="Freeform 6"/>
              <p:cNvSpPr>
                <a:spLocks/>
              </p:cNvSpPr>
              <p:nvPr/>
            </p:nvSpPr>
            <p:spPr bwMode="auto">
              <a:xfrm>
                <a:off x="1158" y="573"/>
                <a:ext cx="1627" cy="1632"/>
              </a:xfrm>
              <a:custGeom>
                <a:avLst/>
                <a:gdLst>
                  <a:gd name="T0" fmla="*/ 663 w 2036"/>
                  <a:gd name="T1" fmla="*/ 0 h 2039"/>
                  <a:gd name="T2" fmla="*/ 529 w 2036"/>
                  <a:gd name="T3" fmla="*/ 14 h 2039"/>
                  <a:gd name="T4" fmla="*/ 405 w 2036"/>
                  <a:gd name="T5" fmla="*/ 53 h 2039"/>
                  <a:gd name="T6" fmla="*/ 347 w 2036"/>
                  <a:gd name="T7" fmla="*/ 81 h 2039"/>
                  <a:gd name="T8" fmla="*/ 291 w 2036"/>
                  <a:gd name="T9" fmla="*/ 114 h 2039"/>
                  <a:gd name="T10" fmla="*/ 241 w 2036"/>
                  <a:gd name="T11" fmla="*/ 153 h 2039"/>
                  <a:gd name="T12" fmla="*/ 217 w 2036"/>
                  <a:gd name="T13" fmla="*/ 174 h 2039"/>
                  <a:gd name="T14" fmla="*/ 194 w 2036"/>
                  <a:gd name="T15" fmla="*/ 197 h 2039"/>
                  <a:gd name="T16" fmla="*/ 172 w 2036"/>
                  <a:gd name="T17" fmla="*/ 220 h 2039"/>
                  <a:gd name="T18" fmla="*/ 151 w 2036"/>
                  <a:gd name="T19" fmla="*/ 243 h 2039"/>
                  <a:gd name="T20" fmla="*/ 113 w 2036"/>
                  <a:gd name="T21" fmla="*/ 295 h 2039"/>
                  <a:gd name="T22" fmla="*/ 79 w 2036"/>
                  <a:gd name="T23" fmla="*/ 351 h 2039"/>
                  <a:gd name="T24" fmla="*/ 52 w 2036"/>
                  <a:gd name="T25" fmla="*/ 409 h 2039"/>
                  <a:gd name="T26" fmla="*/ 12 w 2036"/>
                  <a:gd name="T27" fmla="*/ 535 h 2039"/>
                  <a:gd name="T28" fmla="*/ 0 w 2036"/>
                  <a:gd name="T29" fmla="*/ 669 h 2039"/>
                  <a:gd name="T30" fmla="*/ 663 w 2036"/>
                  <a:gd name="T31" fmla="*/ 669 h 2039"/>
                  <a:gd name="T32" fmla="*/ 663 w 2036"/>
                  <a:gd name="T33" fmla="*/ 0 h 2039"/>
                  <a:gd name="T34" fmla="*/ 663 w 2036"/>
                  <a:gd name="T35" fmla="*/ 0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6"/>
                  <a:gd name="T55" fmla="*/ 0 h 2039"/>
                  <a:gd name="T56" fmla="*/ 2036 w 2036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6" h="2039">
                    <a:moveTo>
                      <a:pt x="2036" y="0"/>
                    </a:moveTo>
                    <a:lnTo>
                      <a:pt x="1626" y="40"/>
                    </a:lnTo>
                    <a:lnTo>
                      <a:pt x="1242" y="159"/>
                    </a:lnTo>
                    <a:lnTo>
                      <a:pt x="1065" y="247"/>
                    </a:lnTo>
                    <a:lnTo>
                      <a:pt x="895" y="348"/>
                    </a:lnTo>
                    <a:lnTo>
                      <a:pt x="740" y="466"/>
                    </a:lnTo>
                    <a:lnTo>
                      <a:pt x="665" y="530"/>
                    </a:lnTo>
                    <a:lnTo>
                      <a:pt x="595" y="599"/>
                    </a:lnTo>
                    <a:lnTo>
                      <a:pt x="527" y="669"/>
                    </a:lnTo>
                    <a:lnTo>
                      <a:pt x="464" y="741"/>
                    </a:lnTo>
                    <a:lnTo>
                      <a:pt x="346" y="899"/>
                    </a:lnTo>
                    <a:lnTo>
                      <a:pt x="243" y="1068"/>
                    </a:lnTo>
                    <a:lnTo>
                      <a:pt x="158" y="1245"/>
                    </a:lnTo>
                    <a:lnTo>
                      <a:pt x="38" y="1629"/>
                    </a:lnTo>
                    <a:lnTo>
                      <a:pt x="0" y="2039"/>
                    </a:lnTo>
                    <a:lnTo>
                      <a:pt x="2036" y="2039"/>
                    </a:lnTo>
                    <a:lnTo>
                      <a:pt x="2036" y="0"/>
                    </a:lnTo>
                    <a:close/>
                  </a:path>
                </a:pathLst>
              </a:custGeom>
              <a:solidFill>
                <a:srgbClr val="FF0000">
                  <a:alpha val="39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92" name="Freeform 7"/>
              <p:cNvSpPr>
                <a:spLocks/>
              </p:cNvSpPr>
              <p:nvPr/>
            </p:nvSpPr>
            <p:spPr bwMode="auto">
              <a:xfrm>
                <a:off x="1158" y="2205"/>
                <a:ext cx="1627" cy="1632"/>
              </a:xfrm>
              <a:custGeom>
                <a:avLst/>
                <a:gdLst>
                  <a:gd name="T0" fmla="*/ 0 w 2037"/>
                  <a:gd name="T1" fmla="*/ 0 h 2041"/>
                  <a:gd name="T2" fmla="*/ 14 w 2037"/>
                  <a:gd name="T3" fmla="*/ 134 h 2041"/>
                  <a:gd name="T4" fmla="*/ 52 w 2037"/>
                  <a:gd name="T5" fmla="*/ 260 h 2041"/>
                  <a:gd name="T6" fmla="*/ 80 w 2037"/>
                  <a:gd name="T7" fmla="*/ 317 h 2041"/>
                  <a:gd name="T8" fmla="*/ 113 w 2037"/>
                  <a:gd name="T9" fmla="*/ 373 h 2041"/>
                  <a:gd name="T10" fmla="*/ 151 w 2037"/>
                  <a:gd name="T11" fmla="*/ 425 h 2041"/>
                  <a:gd name="T12" fmla="*/ 173 w 2037"/>
                  <a:gd name="T13" fmla="*/ 449 h 2041"/>
                  <a:gd name="T14" fmla="*/ 194 w 2037"/>
                  <a:gd name="T15" fmla="*/ 471 h 2041"/>
                  <a:gd name="T16" fmla="*/ 217 w 2037"/>
                  <a:gd name="T17" fmla="*/ 493 h 2041"/>
                  <a:gd name="T18" fmla="*/ 242 w 2037"/>
                  <a:gd name="T19" fmla="*/ 515 h 2041"/>
                  <a:gd name="T20" fmla="*/ 292 w 2037"/>
                  <a:gd name="T21" fmla="*/ 553 h 2041"/>
                  <a:gd name="T22" fmla="*/ 347 w 2037"/>
                  <a:gd name="T23" fmla="*/ 586 h 2041"/>
                  <a:gd name="T24" fmla="*/ 404 w 2037"/>
                  <a:gd name="T25" fmla="*/ 614 h 2041"/>
                  <a:gd name="T26" fmla="*/ 529 w 2037"/>
                  <a:gd name="T27" fmla="*/ 653 h 2041"/>
                  <a:gd name="T28" fmla="*/ 662 w 2037"/>
                  <a:gd name="T29" fmla="*/ 667 h 2041"/>
                  <a:gd name="T30" fmla="*/ 662 w 2037"/>
                  <a:gd name="T31" fmla="*/ 0 h 2041"/>
                  <a:gd name="T32" fmla="*/ 0 w 2037"/>
                  <a:gd name="T33" fmla="*/ 0 h 2041"/>
                  <a:gd name="T34" fmla="*/ 0 w 2037"/>
                  <a:gd name="T35" fmla="*/ 0 h 20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7"/>
                  <a:gd name="T55" fmla="*/ 0 h 2041"/>
                  <a:gd name="T56" fmla="*/ 2037 w 2037"/>
                  <a:gd name="T57" fmla="*/ 2041 h 20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7" h="2041">
                    <a:moveTo>
                      <a:pt x="0" y="0"/>
                    </a:moveTo>
                    <a:lnTo>
                      <a:pt x="40" y="412"/>
                    </a:lnTo>
                    <a:lnTo>
                      <a:pt x="160" y="794"/>
                    </a:lnTo>
                    <a:lnTo>
                      <a:pt x="246" y="971"/>
                    </a:lnTo>
                    <a:lnTo>
                      <a:pt x="348" y="1140"/>
                    </a:lnTo>
                    <a:lnTo>
                      <a:pt x="466" y="1298"/>
                    </a:lnTo>
                    <a:lnTo>
                      <a:pt x="529" y="1372"/>
                    </a:lnTo>
                    <a:lnTo>
                      <a:pt x="597" y="1442"/>
                    </a:lnTo>
                    <a:lnTo>
                      <a:pt x="668" y="1511"/>
                    </a:lnTo>
                    <a:lnTo>
                      <a:pt x="742" y="1574"/>
                    </a:lnTo>
                    <a:lnTo>
                      <a:pt x="898" y="1691"/>
                    </a:lnTo>
                    <a:lnTo>
                      <a:pt x="1067" y="1794"/>
                    </a:lnTo>
                    <a:lnTo>
                      <a:pt x="1244" y="1880"/>
                    </a:lnTo>
                    <a:lnTo>
                      <a:pt x="1626" y="1999"/>
                    </a:lnTo>
                    <a:lnTo>
                      <a:pt x="2037" y="2041"/>
                    </a:lnTo>
                    <a:lnTo>
                      <a:pt x="20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00">
                  <a:alpha val="39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93" name="Freeform 8"/>
              <p:cNvSpPr>
                <a:spLocks/>
              </p:cNvSpPr>
              <p:nvPr/>
            </p:nvSpPr>
            <p:spPr bwMode="auto">
              <a:xfrm>
                <a:off x="2775" y="2207"/>
                <a:ext cx="1629" cy="1630"/>
              </a:xfrm>
              <a:custGeom>
                <a:avLst/>
                <a:gdLst>
                  <a:gd name="T0" fmla="*/ 0 w 2038"/>
                  <a:gd name="T1" fmla="*/ 666 h 2039"/>
                  <a:gd name="T2" fmla="*/ 134 w 2038"/>
                  <a:gd name="T3" fmla="*/ 652 h 2039"/>
                  <a:gd name="T4" fmla="*/ 259 w 2038"/>
                  <a:gd name="T5" fmla="*/ 614 h 2039"/>
                  <a:gd name="T6" fmla="*/ 317 w 2038"/>
                  <a:gd name="T7" fmla="*/ 585 h 2039"/>
                  <a:gd name="T8" fmla="*/ 371 w 2038"/>
                  <a:gd name="T9" fmla="*/ 552 h 2039"/>
                  <a:gd name="T10" fmla="*/ 422 w 2038"/>
                  <a:gd name="T11" fmla="*/ 514 h 2039"/>
                  <a:gd name="T12" fmla="*/ 447 w 2038"/>
                  <a:gd name="T13" fmla="*/ 492 h 2039"/>
                  <a:gd name="T14" fmla="*/ 469 w 2038"/>
                  <a:gd name="T15" fmla="*/ 471 h 2039"/>
                  <a:gd name="T16" fmla="*/ 492 w 2038"/>
                  <a:gd name="T17" fmla="*/ 447 h 2039"/>
                  <a:gd name="T18" fmla="*/ 513 w 2038"/>
                  <a:gd name="T19" fmla="*/ 423 h 2039"/>
                  <a:gd name="T20" fmla="*/ 552 w 2038"/>
                  <a:gd name="T21" fmla="*/ 372 h 2039"/>
                  <a:gd name="T22" fmla="*/ 584 w 2038"/>
                  <a:gd name="T23" fmla="*/ 317 h 2039"/>
                  <a:gd name="T24" fmla="*/ 612 w 2038"/>
                  <a:gd name="T25" fmla="*/ 259 h 2039"/>
                  <a:gd name="T26" fmla="*/ 651 w 2038"/>
                  <a:gd name="T27" fmla="*/ 134 h 2039"/>
                  <a:gd name="T28" fmla="*/ 665 w 2038"/>
                  <a:gd name="T29" fmla="*/ 0 h 2039"/>
                  <a:gd name="T30" fmla="*/ 0 w 2038"/>
                  <a:gd name="T31" fmla="*/ 0 h 2039"/>
                  <a:gd name="T32" fmla="*/ 0 w 2038"/>
                  <a:gd name="T33" fmla="*/ 666 h 2039"/>
                  <a:gd name="T34" fmla="*/ 0 w 2038"/>
                  <a:gd name="T35" fmla="*/ 666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39"/>
                  <a:gd name="T56" fmla="*/ 2038 w 2038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39">
                    <a:moveTo>
                      <a:pt x="0" y="2039"/>
                    </a:moveTo>
                    <a:lnTo>
                      <a:pt x="411" y="1997"/>
                    </a:lnTo>
                    <a:lnTo>
                      <a:pt x="793" y="1880"/>
                    </a:lnTo>
                    <a:lnTo>
                      <a:pt x="970" y="1792"/>
                    </a:lnTo>
                    <a:lnTo>
                      <a:pt x="1139" y="1691"/>
                    </a:lnTo>
                    <a:lnTo>
                      <a:pt x="1295" y="1574"/>
                    </a:lnTo>
                    <a:lnTo>
                      <a:pt x="1369" y="1509"/>
                    </a:lnTo>
                    <a:lnTo>
                      <a:pt x="1439" y="1442"/>
                    </a:lnTo>
                    <a:lnTo>
                      <a:pt x="1508" y="1370"/>
                    </a:lnTo>
                    <a:lnTo>
                      <a:pt x="1571" y="1296"/>
                    </a:lnTo>
                    <a:lnTo>
                      <a:pt x="1690" y="1140"/>
                    </a:lnTo>
                    <a:lnTo>
                      <a:pt x="1791" y="971"/>
                    </a:lnTo>
                    <a:lnTo>
                      <a:pt x="1877" y="792"/>
                    </a:lnTo>
                    <a:lnTo>
                      <a:pt x="1997" y="410"/>
                    </a:lnTo>
                    <a:lnTo>
                      <a:pt x="2038" y="0"/>
                    </a:lnTo>
                    <a:lnTo>
                      <a:pt x="0" y="0"/>
                    </a:lnTo>
                    <a:lnTo>
                      <a:pt x="0" y="2039"/>
                    </a:lnTo>
                    <a:close/>
                  </a:path>
                </a:pathLst>
              </a:custGeom>
              <a:solidFill>
                <a:srgbClr val="FFCC00">
                  <a:alpha val="39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94" name="Freeform 9"/>
              <p:cNvSpPr>
                <a:spLocks/>
              </p:cNvSpPr>
              <p:nvPr/>
            </p:nvSpPr>
            <p:spPr bwMode="auto">
              <a:xfrm>
                <a:off x="2775" y="573"/>
                <a:ext cx="1629" cy="1632"/>
              </a:xfrm>
              <a:custGeom>
                <a:avLst/>
                <a:gdLst>
                  <a:gd name="T0" fmla="*/ 665 w 2038"/>
                  <a:gd name="T1" fmla="*/ 666 h 2042"/>
                  <a:gd name="T2" fmla="*/ 651 w 2038"/>
                  <a:gd name="T3" fmla="*/ 531 h 2042"/>
                  <a:gd name="T4" fmla="*/ 613 w 2038"/>
                  <a:gd name="T5" fmla="*/ 407 h 2042"/>
                  <a:gd name="T6" fmla="*/ 584 w 2038"/>
                  <a:gd name="T7" fmla="*/ 348 h 2042"/>
                  <a:gd name="T8" fmla="*/ 552 w 2038"/>
                  <a:gd name="T9" fmla="*/ 294 h 2042"/>
                  <a:gd name="T10" fmla="*/ 513 w 2038"/>
                  <a:gd name="T11" fmla="*/ 243 h 2042"/>
                  <a:gd name="T12" fmla="*/ 492 w 2038"/>
                  <a:gd name="T13" fmla="*/ 218 h 2042"/>
                  <a:gd name="T14" fmla="*/ 469 w 2038"/>
                  <a:gd name="T15" fmla="*/ 196 h 2042"/>
                  <a:gd name="T16" fmla="*/ 447 w 2038"/>
                  <a:gd name="T17" fmla="*/ 173 h 2042"/>
                  <a:gd name="T18" fmla="*/ 424 w 2038"/>
                  <a:gd name="T19" fmla="*/ 153 h 2042"/>
                  <a:gd name="T20" fmla="*/ 371 w 2038"/>
                  <a:gd name="T21" fmla="*/ 114 h 2042"/>
                  <a:gd name="T22" fmla="*/ 317 w 2038"/>
                  <a:gd name="T23" fmla="*/ 80 h 2042"/>
                  <a:gd name="T24" fmla="*/ 259 w 2038"/>
                  <a:gd name="T25" fmla="*/ 53 h 2042"/>
                  <a:gd name="T26" fmla="*/ 134 w 2038"/>
                  <a:gd name="T27" fmla="*/ 14 h 2042"/>
                  <a:gd name="T28" fmla="*/ 0 w 2038"/>
                  <a:gd name="T29" fmla="*/ 0 h 2042"/>
                  <a:gd name="T30" fmla="*/ 0 w 2038"/>
                  <a:gd name="T31" fmla="*/ 666 h 2042"/>
                  <a:gd name="T32" fmla="*/ 665 w 2038"/>
                  <a:gd name="T33" fmla="*/ 666 h 2042"/>
                  <a:gd name="T34" fmla="*/ 665 w 2038"/>
                  <a:gd name="T35" fmla="*/ 666 h 20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42"/>
                  <a:gd name="T56" fmla="*/ 2038 w 2038"/>
                  <a:gd name="T57" fmla="*/ 2042 h 20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42">
                    <a:moveTo>
                      <a:pt x="2038" y="2042"/>
                    </a:moveTo>
                    <a:lnTo>
                      <a:pt x="1997" y="1629"/>
                    </a:lnTo>
                    <a:lnTo>
                      <a:pt x="1879" y="1247"/>
                    </a:lnTo>
                    <a:lnTo>
                      <a:pt x="1791" y="1068"/>
                    </a:lnTo>
                    <a:lnTo>
                      <a:pt x="1690" y="901"/>
                    </a:lnTo>
                    <a:lnTo>
                      <a:pt x="1573" y="743"/>
                    </a:lnTo>
                    <a:lnTo>
                      <a:pt x="1508" y="671"/>
                    </a:lnTo>
                    <a:lnTo>
                      <a:pt x="1439" y="599"/>
                    </a:lnTo>
                    <a:lnTo>
                      <a:pt x="1369" y="532"/>
                    </a:lnTo>
                    <a:lnTo>
                      <a:pt x="1297" y="468"/>
                    </a:lnTo>
                    <a:lnTo>
                      <a:pt x="1139" y="350"/>
                    </a:lnTo>
                    <a:lnTo>
                      <a:pt x="970" y="247"/>
                    </a:lnTo>
                    <a:lnTo>
                      <a:pt x="793" y="162"/>
                    </a:lnTo>
                    <a:lnTo>
                      <a:pt x="411" y="42"/>
                    </a:lnTo>
                    <a:lnTo>
                      <a:pt x="0" y="0"/>
                    </a:lnTo>
                    <a:lnTo>
                      <a:pt x="0" y="2042"/>
                    </a:lnTo>
                    <a:lnTo>
                      <a:pt x="2038" y="2042"/>
                    </a:lnTo>
                    <a:close/>
                  </a:path>
                </a:pathLst>
              </a:custGeom>
              <a:solidFill>
                <a:srgbClr val="002960">
                  <a:alpha val="39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1632" y="1152"/>
              <a:ext cx="2384" cy="2397"/>
              <a:chOff x="1584" y="1002"/>
              <a:chExt cx="2384" cy="2397"/>
            </a:xfrm>
          </p:grpSpPr>
          <p:sp>
            <p:nvSpPr>
              <p:cNvPr id="108587" name="Freeform 11"/>
              <p:cNvSpPr>
                <a:spLocks/>
              </p:cNvSpPr>
              <p:nvPr/>
            </p:nvSpPr>
            <p:spPr bwMode="auto">
              <a:xfrm>
                <a:off x="1584" y="1002"/>
                <a:ext cx="1195" cy="1199"/>
              </a:xfrm>
              <a:custGeom>
                <a:avLst/>
                <a:gdLst>
                  <a:gd name="T0" fmla="*/ 141 w 2036"/>
                  <a:gd name="T1" fmla="*/ 0 h 2039"/>
                  <a:gd name="T2" fmla="*/ 113 w 2036"/>
                  <a:gd name="T3" fmla="*/ 3 h 2039"/>
                  <a:gd name="T4" fmla="*/ 86 w 2036"/>
                  <a:gd name="T5" fmla="*/ 11 h 2039"/>
                  <a:gd name="T6" fmla="*/ 74 w 2036"/>
                  <a:gd name="T7" fmla="*/ 17 h 2039"/>
                  <a:gd name="T8" fmla="*/ 62 w 2036"/>
                  <a:gd name="T9" fmla="*/ 25 h 2039"/>
                  <a:gd name="T10" fmla="*/ 52 w 2036"/>
                  <a:gd name="T11" fmla="*/ 33 h 2039"/>
                  <a:gd name="T12" fmla="*/ 46 w 2036"/>
                  <a:gd name="T13" fmla="*/ 38 h 2039"/>
                  <a:gd name="T14" fmla="*/ 41 w 2036"/>
                  <a:gd name="T15" fmla="*/ 42 h 2039"/>
                  <a:gd name="T16" fmla="*/ 36 w 2036"/>
                  <a:gd name="T17" fmla="*/ 47 h 2039"/>
                  <a:gd name="T18" fmla="*/ 32 w 2036"/>
                  <a:gd name="T19" fmla="*/ 52 h 2039"/>
                  <a:gd name="T20" fmla="*/ 24 w 2036"/>
                  <a:gd name="T21" fmla="*/ 64 h 2039"/>
                  <a:gd name="T22" fmla="*/ 17 w 2036"/>
                  <a:gd name="T23" fmla="*/ 75 h 2039"/>
                  <a:gd name="T24" fmla="*/ 11 w 2036"/>
                  <a:gd name="T25" fmla="*/ 88 h 2039"/>
                  <a:gd name="T26" fmla="*/ 3 w 2036"/>
                  <a:gd name="T27" fmla="*/ 115 h 2039"/>
                  <a:gd name="T28" fmla="*/ 0 w 2036"/>
                  <a:gd name="T29" fmla="*/ 143 h 2039"/>
                  <a:gd name="T30" fmla="*/ 141 w 2036"/>
                  <a:gd name="T31" fmla="*/ 143 h 2039"/>
                  <a:gd name="T32" fmla="*/ 141 w 2036"/>
                  <a:gd name="T33" fmla="*/ 0 h 2039"/>
                  <a:gd name="T34" fmla="*/ 141 w 2036"/>
                  <a:gd name="T35" fmla="*/ 0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6"/>
                  <a:gd name="T55" fmla="*/ 0 h 2039"/>
                  <a:gd name="T56" fmla="*/ 2036 w 2036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6" h="2039">
                    <a:moveTo>
                      <a:pt x="2036" y="0"/>
                    </a:moveTo>
                    <a:lnTo>
                      <a:pt x="1626" y="40"/>
                    </a:lnTo>
                    <a:lnTo>
                      <a:pt x="1242" y="159"/>
                    </a:lnTo>
                    <a:lnTo>
                      <a:pt x="1065" y="247"/>
                    </a:lnTo>
                    <a:lnTo>
                      <a:pt x="895" y="348"/>
                    </a:lnTo>
                    <a:lnTo>
                      <a:pt x="740" y="466"/>
                    </a:lnTo>
                    <a:lnTo>
                      <a:pt x="665" y="530"/>
                    </a:lnTo>
                    <a:lnTo>
                      <a:pt x="595" y="599"/>
                    </a:lnTo>
                    <a:lnTo>
                      <a:pt x="527" y="669"/>
                    </a:lnTo>
                    <a:lnTo>
                      <a:pt x="464" y="741"/>
                    </a:lnTo>
                    <a:lnTo>
                      <a:pt x="346" y="899"/>
                    </a:lnTo>
                    <a:lnTo>
                      <a:pt x="243" y="1068"/>
                    </a:lnTo>
                    <a:lnTo>
                      <a:pt x="158" y="1245"/>
                    </a:lnTo>
                    <a:lnTo>
                      <a:pt x="38" y="1629"/>
                    </a:lnTo>
                    <a:lnTo>
                      <a:pt x="0" y="2039"/>
                    </a:lnTo>
                    <a:lnTo>
                      <a:pt x="2036" y="2039"/>
                    </a:lnTo>
                    <a:lnTo>
                      <a:pt x="2036" y="0"/>
                    </a:lnTo>
                    <a:close/>
                  </a:path>
                </a:pathLst>
              </a:custGeom>
              <a:solidFill>
                <a:srgbClr val="FF0000">
                  <a:alpha val="5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88" name="Freeform 12"/>
              <p:cNvSpPr>
                <a:spLocks/>
              </p:cNvSpPr>
              <p:nvPr/>
            </p:nvSpPr>
            <p:spPr bwMode="auto">
              <a:xfrm>
                <a:off x="2772" y="2202"/>
                <a:ext cx="1196" cy="1197"/>
              </a:xfrm>
              <a:custGeom>
                <a:avLst/>
                <a:gdLst>
                  <a:gd name="T0" fmla="*/ 0 w 2038"/>
                  <a:gd name="T1" fmla="*/ 142 h 2039"/>
                  <a:gd name="T2" fmla="*/ 29 w 2038"/>
                  <a:gd name="T3" fmla="*/ 139 h 2039"/>
                  <a:gd name="T4" fmla="*/ 55 w 2038"/>
                  <a:gd name="T5" fmla="*/ 131 h 2039"/>
                  <a:gd name="T6" fmla="*/ 67 w 2038"/>
                  <a:gd name="T7" fmla="*/ 125 h 2039"/>
                  <a:gd name="T8" fmla="*/ 79 w 2038"/>
                  <a:gd name="T9" fmla="*/ 118 h 2039"/>
                  <a:gd name="T10" fmla="*/ 90 w 2038"/>
                  <a:gd name="T11" fmla="*/ 110 h 2039"/>
                  <a:gd name="T12" fmla="*/ 95 w 2038"/>
                  <a:gd name="T13" fmla="*/ 105 h 2039"/>
                  <a:gd name="T14" fmla="*/ 100 w 2038"/>
                  <a:gd name="T15" fmla="*/ 100 h 2039"/>
                  <a:gd name="T16" fmla="*/ 105 w 2038"/>
                  <a:gd name="T17" fmla="*/ 96 h 2039"/>
                  <a:gd name="T18" fmla="*/ 109 w 2038"/>
                  <a:gd name="T19" fmla="*/ 90 h 2039"/>
                  <a:gd name="T20" fmla="*/ 118 w 2038"/>
                  <a:gd name="T21" fmla="*/ 80 h 2039"/>
                  <a:gd name="T22" fmla="*/ 124 w 2038"/>
                  <a:gd name="T23" fmla="*/ 68 h 2039"/>
                  <a:gd name="T24" fmla="*/ 131 w 2038"/>
                  <a:gd name="T25" fmla="*/ 55 h 2039"/>
                  <a:gd name="T26" fmla="*/ 139 w 2038"/>
                  <a:gd name="T27" fmla="*/ 29 h 2039"/>
                  <a:gd name="T28" fmla="*/ 142 w 2038"/>
                  <a:gd name="T29" fmla="*/ 0 h 2039"/>
                  <a:gd name="T30" fmla="*/ 0 w 2038"/>
                  <a:gd name="T31" fmla="*/ 0 h 2039"/>
                  <a:gd name="T32" fmla="*/ 0 w 2038"/>
                  <a:gd name="T33" fmla="*/ 142 h 2039"/>
                  <a:gd name="T34" fmla="*/ 0 w 2038"/>
                  <a:gd name="T35" fmla="*/ 142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39"/>
                  <a:gd name="T56" fmla="*/ 2038 w 2038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39">
                    <a:moveTo>
                      <a:pt x="0" y="2039"/>
                    </a:moveTo>
                    <a:lnTo>
                      <a:pt x="411" y="1997"/>
                    </a:lnTo>
                    <a:lnTo>
                      <a:pt x="793" y="1880"/>
                    </a:lnTo>
                    <a:lnTo>
                      <a:pt x="970" y="1792"/>
                    </a:lnTo>
                    <a:lnTo>
                      <a:pt x="1139" y="1691"/>
                    </a:lnTo>
                    <a:lnTo>
                      <a:pt x="1295" y="1574"/>
                    </a:lnTo>
                    <a:lnTo>
                      <a:pt x="1369" y="1509"/>
                    </a:lnTo>
                    <a:lnTo>
                      <a:pt x="1439" y="1442"/>
                    </a:lnTo>
                    <a:lnTo>
                      <a:pt x="1508" y="1370"/>
                    </a:lnTo>
                    <a:lnTo>
                      <a:pt x="1571" y="1296"/>
                    </a:lnTo>
                    <a:lnTo>
                      <a:pt x="1690" y="1140"/>
                    </a:lnTo>
                    <a:lnTo>
                      <a:pt x="1791" y="971"/>
                    </a:lnTo>
                    <a:lnTo>
                      <a:pt x="1877" y="792"/>
                    </a:lnTo>
                    <a:lnTo>
                      <a:pt x="1997" y="410"/>
                    </a:lnTo>
                    <a:lnTo>
                      <a:pt x="2038" y="0"/>
                    </a:lnTo>
                    <a:lnTo>
                      <a:pt x="0" y="0"/>
                    </a:lnTo>
                    <a:lnTo>
                      <a:pt x="0" y="2039"/>
                    </a:lnTo>
                    <a:close/>
                  </a:path>
                </a:pathLst>
              </a:custGeom>
              <a:solidFill>
                <a:srgbClr val="FF9900">
                  <a:alpha val="5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89" name="Freeform 13"/>
              <p:cNvSpPr>
                <a:spLocks/>
              </p:cNvSpPr>
              <p:nvPr/>
            </p:nvSpPr>
            <p:spPr bwMode="auto">
              <a:xfrm>
                <a:off x="2772" y="1002"/>
                <a:ext cx="1196" cy="1199"/>
              </a:xfrm>
              <a:custGeom>
                <a:avLst/>
                <a:gdLst>
                  <a:gd name="T0" fmla="*/ 142 w 2038"/>
                  <a:gd name="T1" fmla="*/ 143 h 2042"/>
                  <a:gd name="T2" fmla="*/ 139 w 2038"/>
                  <a:gd name="T3" fmla="*/ 113 h 2042"/>
                  <a:gd name="T4" fmla="*/ 131 w 2038"/>
                  <a:gd name="T5" fmla="*/ 87 h 2042"/>
                  <a:gd name="T6" fmla="*/ 124 w 2038"/>
                  <a:gd name="T7" fmla="*/ 75 h 2042"/>
                  <a:gd name="T8" fmla="*/ 118 w 2038"/>
                  <a:gd name="T9" fmla="*/ 63 h 2042"/>
                  <a:gd name="T10" fmla="*/ 110 w 2038"/>
                  <a:gd name="T11" fmla="*/ 52 h 2042"/>
                  <a:gd name="T12" fmla="*/ 105 w 2038"/>
                  <a:gd name="T13" fmla="*/ 47 h 2042"/>
                  <a:gd name="T14" fmla="*/ 100 w 2038"/>
                  <a:gd name="T15" fmla="*/ 42 h 2042"/>
                  <a:gd name="T16" fmla="*/ 95 w 2038"/>
                  <a:gd name="T17" fmla="*/ 37 h 2042"/>
                  <a:gd name="T18" fmla="*/ 90 w 2038"/>
                  <a:gd name="T19" fmla="*/ 33 h 2042"/>
                  <a:gd name="T20" fmla="*/ 79 w 2038"/>
                  <a:gd name="T21" fmla="*/ 25 h 2042"/>
                  <a:gd name="T22" fmla="*/ 67 w 2038"/>
                  <a:gd name="T23" fmla="*/ 17 h 2042"/>
                  <a:gd name="T24" fmla="*/ 55 w 2038"/>
                  <a:gd name="T25" fmla="*/ 11 h 2042"/>
                  <a:gd name="T26" fmla="*/ 29 w 2038"/>
                  <a:gd name="T27" fmla="*/ 3 h 2042"/>
                  <a:gd name="T28" fmla="*/ 0 w 2038"/>
                  <a:gd name="T29" fmla="*/ 0 h 2042"/>
                  <a:gd name="T30" fmla="*/ 0 w 2038"/>
                  <a:gd name="T31" fmla="*/ 143 h 2042"/>
                  <a:gd name="T32" fmla="*/ 142 w 2038"/>
                  <a:gd name="T33" fmla="*/ 143 h 2042"/>
                  <a:gd name="T34" fmla="*/ 142 w 2038"/>
                  <a:gd name="T35" fmla="*/ 143 h 20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42"/>
                  <a:gd name="T56" fmla="*/ 2038 w 2038"/>
                  <a:gd name="T57" fmla="*/ 2042 h 20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42">
                    <a:moveTo>
                      <a:pt x="2038" y="2042"/>
                    </a:moveTo>
                    <a:lnTo>
                      <a:pt x="1997" y="1629"/>
                    </a:lnTo>
                    <a:lnTo>
                      <a:pt x="1879" y="1247"/>
                    </a:lnTo>
                    <a:lnTo>
                      <a:pt x="1791" y="1068"/>
                    </a:lnTo>
                    <a:lnTo>
                      <a:pt x="1690" y="901"/>
                    </a:lnTo>
                    <a:lnTo>
                      <a:pt x="1573" y="743"/>
                    </a:lnTo>
                    <a:lnTo>
                      <a:pt x="1508" y="671"/>
                    </a:lnTo>
                    <a:lnTo>
                      <a:pt x="1439" y="599"/>
                    </a:lnTo>
                    <a:lnTo>
                      <a:pt x="1369" y="532"/>
                    </a:lnTo>
                    <a:lnTo>
                      <a:pt x="1297" y="468"/>
                    </a:lnTo>
                    <a:lnTo>
                      <a:pt x="1139" y="350"/>
                    </a:lnTo>
                    <a:lnTo>
                      <a:pt x="970" y="247"/>
                    </a:lnTo>
                    <a:lnTo>
                      <a:pt x="793" y="162"/>
                    </a:lnTo>
                    <a:lnTo>
                      <a:pt x="411" y="42"/>
                    </a:lnTo>
                    <a:lnTo>
                      <a:pt x="0" y="0"/>
                    </a:lnTo>
                    <a:lnTo>
                      <a:pt x="0" y="2042"/>
                    </a:lnTo>
                    <a:lnTo>
                      <a:pt x="2038" y="2042"/>
                    </a:lnTo>
                    <a:close/>
                  </a:path>
                </a:pathLst>
              </a:custGeom>
              <a:solidFill>
                <a:srgbClr val="002960">
                  <a:alpha val="5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90" name="Freeform 14"/>
              <p:cNvSpPr>
                <a:spLocks/>
              </p:cNvSpPr>
              <p:nvPr/>
            </p:nvSpPr>
            <p:spPr bwMode="auto">
              <a:xfrm>
                <a:off x="1584" y="2201"/>
                <a:ext cx="1195" cy="1198"/>
              </a:xfrm>
              <a:custGeom>
                <a:avLst/>
                <a:gdLst>
                  <a:gd name="T0" fmla="*/ 0 w 2037"/>
                  <a:gd name="T1" fmla="*/ 0 h 2041"/>
                  <a:gd name="T2" fmla="*/ 3 w 2037"/>
                  <a:gd name="T3" fmla="*/ 29 h 2041"/>
                  <a:gd name="T4" fmla="*/ 11 w 2037"/>
                  <a:gd name="T5" fmla="*/ 56 h 2041"/>
                  <a:gd name="T6" fmla="*/ 17 w 2037"/>
                  <a:gd name="T7" fmla="*/ 68 h 2041"/>
                  <a:gd name="T8" fmla="*/ 24 w 2037"/>
                  <a:gd name="T9" fmla="*/ 80 h 2041"/>
                  <a:gd name="T10" fmla="*/ 32 w 2037"/>
                  <a:gd name="T11" fmla="*/ 90 h 2041"/>
                  <a:gd name="T12" fmla="*/ 37 w 2037"/>
                  <a:gd name="T13" fmla="*/ 96 h 2041"/>
                  <a:gd name="T14" fmla="*/ 41 w 2037"/>
                  <a:gd name="T15" fmla="*/ 100 h 2041"/>
                  <a:gd name="T16" fmla="*/ 46 w 2037"/>
                  <a:gd name="T17" fmla="*/ 106 h 2041"/>
                  <a:gd name="T18" fmla="*/ 52 w 2037"/>
                  <a:gd name="T19" fmla="*/ 110 h 2041"/>
                  <a:gd name="T20" fmla="*/ 62 w 2037"/>
                  <a:gd name="T21" fmla="*/ 118 h 2041"/>
                  <a:gd name="T22" fmla="*/ 74 w 2037"/>
                  <a:gd name="T23" fmla="*/ 125 h 2041"/>
                  <a:gd name="T24" fmla="*/ 86 w 2037"/>
                  <a:gd name="T25" fmla="*/ 131 h 2041"/>
                  <a:gd name="T26" fmla="*/ 113 w 2037"/>
                  <a:gd name="T27" fmla="*/ 139 h 2041"/>
                  <a:gd name="T28" fmla="*/ 141 w 2037"/>
                  <a:gd name="T29" fmla="*/ 142 h 2041"/>
                  <a:gd name="T30" fmla="*/ 141 w 2037"/>
                  <a:gd name="T31" fmla="*/ 0 h 2041"/>
                  <a:gd name="T32" fmla="*/ 0 w 2037"/>
                  <a:gd name="T33" fmla="*/ 0 h 2041"/>
                  <a:gd name="T34" fmla="*/ 0 w 2037"/>
                  <a:gd name="T35" fmla="*/ 0 h 20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7"/>
                  <a:gd name="T55" fmla="*/ 0 h 2041"/>
                  <a:gd name="T56" fmla="*/ 2037 w 2037"/>
                  <a:gd name="T57" fmla="*/ 2041 h 20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7" h="2041">
                    <a:moveTo>
                      <a:pt x="0" y="0"/>
                    </a:moveTo>
                    <a:lnTo>
                      <a:pt x="40" y="412"/>
                    </a:lnTo>
                    <a:lnTo>
                      <a:pt x="160" y="794"/>
                    </a:lnTo>
                    <a:lnTo>
                      <a:pt x="246" y="971"/>
                    </a:lnTo>
                    <a:lnTo>
                      <a:pt x="348" y="1140"/>
                    </a:lnTo>
                    <a:lnTo>
                      <a:pt x="466" y="1298"/>
                    </a:lnTo>
                    <a:lnTo>
                      <a:pt x="529" y="1372"/>
                    </a:lnTo>
                    <a:lnTo>
                      <a:pt x="597" y="1442"/>
                    </a:lnTo>
                    <a:lnTo>
                      <a:pt x="668" y="1511"/>
                    </a:lnTo>
                    <a:lnTo>
                      <a:pt x="742" y="1574"/>
                    </a:lnTo>
                    <a:lnTo>
                      <a:pt x="898" y="1691"/>
                    </a:lnTo>
                    <a:lnTo>
                      <a:pt x="1067" y="1794"/>
                    </a:lnTo>
                    <a:lnTo>
                      <a:pt x="1244" y="1880"/>
                    </a:lnTo>
                    <a:lnTo>
                      <a:pt x="1626" y="1999"/>
                    </a:lnTo>
                    <a:lnTo>
                      <a:pt x="2037" y="2041"/>
                    </a:lnTo>
                    <a:lnTo>
                      <a:pt x="20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00">
                  <a:alpha val="5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</p:grpSp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2121" y="1674"/>
              <a:ext cx="1384" cy="1392"/>
              <a:chOff x="2064" y="1488"/>
              <a:chExt cx="1432" cy="1440"/>
            </a:xfrm>
          </p:grpSpPr>
          <p:sp>
            <p:nvSpPr>
              <p:cNvPr id="108583" name="Freeform 16"/>
              <p:cNvSpPr>
                <a:spLocks/>
              </p:cNvSpPr>
              <p:nvPr/>
            </p:nvSpPr>
            <p:spPr bwMode="auto">
              <a:xfrm>
                <a:off x="2777" y="2209"/>
                <a:ext cx="719" cy="719"/>
              </a:xfrm>
              <a:custGeom>
                <a:avLst/>
                <a:gdLst>
                  <a:gd name="T0" fmla="*/ 0 w 2038"/>
                  <a:gd name="T1" fmla="*/ 11 h 2039"/>
                  <a:gd name="T2" fmla="*/ 2 w 2038"/>
                  <a:gd name="T3" fmla="*/ 11 h 2039"/>
                  <a:gd name="T4" fmla="*/ 4 w 2038"/>
                  <a:gd name="T5" fmla="*/ 10 h 2039"/>
                  <a:gd name="T6" fmla="*/ 5 w 2038"/>
                  <a:gd name="T7" fmla="*/ 10 h 2039"/>
                  <a:gd name="T8" fmla="*/ 6 w 2038"/>
                  <a:gd name="T9" fmla="*/ 9 h 2039"/>
                  <a:gd name="T10" fmla="*/ 7 w 2038"/>
                  <a:gd name="T11" fmla="*/ 8 h 2039"/>
                  <a:gd name="T12" fmla="*/ 7 w 2038"/>
                  <a:gd name="T13" fmla="*/ 8 h 2039"/>
                  <a:gd name="T14" fmla="*/ 8 w 2038"/>
                  <a:gd name="T15" fmla="*/ 8 h 2039"/>
                  <a:gd name="T16" fmla="*/ 8 w 2038"/>
                  <a:gd name="T17" fmla="*/ 7 h 2039"/>
                  <a:gd name="T18" fmla="*/ 8 w 2038"/>
                  <a:gd name="T19" fmla="*/ 7 h 2039"/>
                  <a:gd name="T20" fmla="*/ 9 w 2038"/>
                  <a:gd name="T21" fmla="*/ 6 h 2039"/>
                  <a:gd name="T22" fmla="*/ 10 w 2038"/>
                  <a:gd name="T23" fmla="*/ 5 h 2039"/>
                  <a:gd name="T24" fmla="*/ 10 w 2038"/>
                  <a:gd name="T25" fmla="*/ 4 h 2039"/>
                  <a:gd name="T26" fmla="*/ 11 w 2038"/>
                  <a:gd name="T27" fmla="*/ 2 h 2039"/>
                  <a:gd name="T28" fmla="*/ 11 w 2038"/>
                  <a:gd name="T29" fmla="*/ 0 h 2039"/>
                  <a:gd name="T30" fmla="*/ 0 w 2038"/>
                  <a:gd name="T31" fmla="*/ 0 h 2039"/>
                  <a:gd name="T32" fmla="*/ 0 w 2038"/>
                  <a:gd name="T33" fmla="*/ 11 h 2039"/>
                  <a:gd name="T34" fmla="*/ 0 w 2038"/>
                  <a:gd name="T35" fmla="*/ 11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39"/>
                  <a:gd name="T56" fmla="*/ 2038 w 2038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39">
                    <a:moveTo>
                      <a:pt x="0" y="2039"/>
                    </a:moveTo>
                    <a:lnTo>
                      <a:pt x="411" y="1997"/>
                    </a:lnTo>
                    <a:lnTo>
                      <a:pt x="793" y="1880"/>
                    </a:lnTo>
                    <a:lnTo>
                      <a:pt x="970" y="1792"/>
                    </a:lnTo>
                    <a:lnTo>
                      <a:pt x="1139" y="1691"/>
                    </a:lnTo>
                    <a:lnTo>
                      <a:pt x="1295" y="1574"/>
                    </a:lnTo>
                    <a:lnTo>
                      <a:pt x="1369" y="1509"/>
                    </a:lnTo>
                    <a:lnTo>
                      <a:pt x="1439" y="1442"/>
                    </a:lnTo>
                    <a:lnTo>
                      <a:pt x="1508" y="1370"/>
                    </a:lnTo>
                    <a:lnTo>
                      <a:pt x="1571" y="1296"/>
                    </a:lnTo>
                    <a:lnTo>
                      <a:pt x="1690" y="1140"/>
                    </a:lnTo>
                    <a:lnTo>
                      <a:pt x="1791" y="971"/>
                    </a:lnTo>
                    <a:lnTo>
                      <a:pt x="1877" y="792"/>
                    </a:lnTo>
                    <a:lnTo>
                      <a:pt x="1997" y="410"/>
                    </a:lnTo>
                    <a:lnTo>
                      <a:pt x="2038" y="0"/>
                    </a:lnTo>
                    <a:lnTo>
                      <a:pt x="0" y="0"/>
                    </a:lnTo>
                    <a:lnTo>
                      <a:pt x="0" y="2039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84" name="Freeform 17"/>
              <p:cNvSpPr>
                <a:spLocks/>
              </p:cNvSpPr>
              <p:nvPr/>
            </p:nvSpPr>
            <p:spPr bwMode="auto">
              <a:xfrm>
                <a:off x="2777" y="1488"/>
                <a:ext cx="719" cy="720"/>
              </a:xfrm>
              <a:custGeom>
                <a:avLst/>
                <a:gdLst>
                  <a:gd name="T0" fmla="*/ 11 w 2038"/>
                  <a:gd name="T1" fmla="*/ 11 h 2042"/>
                  <a:gd name="T2" fmla="*/ 11 w 2038"/>
                  <a:gd name="T3" fmla="*/ 9 h 2042"/>
                  <a:gd name="T4" fmla="*/ 10 w 2038"/>
                  <a:gd name="T5" fmla="*/ 7 h 2042"/>
                  <a:gd name="T6" fmla="*/ 10 w 2038"/>
                  <a:gd name="T7" fmla="*/ 6 h 2042"/>
                  <a:gd name="T8" fmla="*/ 9 w 2038"/>
                  <a:gd name="T9" fmla="*/ 5 h 2042"/>
                  <a:gd name="T10" fmla="*/ 8 w 2038"/>
                  <a:gd name="T11" fmla="*/ 4 h 2042"/>
                  <a:gd name="T12" fmla="*/ 8 w 2038"/>
                  <a:gd name="T13" fmla="*/ 4 h 2042"/>
                  <a:gd name="T14" fmla="*/ 8 w 2038"/>
                  <a:gd name="T15" fmla="*/ 3 h 2042"/>
                  <a:gd name="T16" fmla="*/ 7 w 2038"/>
                  <a:gd name="T17" fmla="*/ 3 h 2042"/>
                  <a:gd name="T18" fmla="*/ 7 w 2038"/>
                  <a:gd name="T19" fmla="*/ 2 h 2042"/>
                  <a:gd name="T20" fmla="*/ 6 w 2038"/>
                  <a:gd name="T21" fmla="*/ 2 h 2042"/>
                  <a:gd name="T22" fmla="*/ 5 w 2038"/>
                  <a:gd name="T23" fmla="*/ 1 h 2042"/>
                  <a:gd name="T24" fmla="*/ 4 w 2038"/>
                  <a:gd name="T25" fmla="*/ 1 h 2042"/>
                  <a:gd name="T26" fmla="*/ 2 w 2038"/>
                  <a:gd name="T27" fmla="*/ 0 h 2042"/>
                  <a:gd name="T28" fmla="*/ 0 w 2038"/>
                  <a:gd name="T29" fmla="*/ 0 h 2042"/>
                  <a:gd name="T30" fmla="*/ 0 w 2038"/>
                  <a:gd name="T31" fmla="*/ 11 h 2042"/>
                  <a:gd name="T32" fmla="*/ 11 w 2038"/>
                  <a:gd name="T33" fmla="*/ 11 h 2042"/>
                  <a:gd name="T34" fmla="*/ 11 w 2038"/>
                  <a:gd name="T35" fmla="*/ 11 h 20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8"/>
                  <a:gd name="T55" fmla="*/ 0 h 2042"/>
                  <a:gd name="T56" fmla="*/ 2038 w 2038"/>
                  <a:gd name="T57" fmla="*/ 2042 h 20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8" h="2042">
                    <a:moveTo>
                      <a:pt x="2038" y="2042"/>
                    </a:moveTo>
                    <a:lnTo>
                      <a:pt x="1997" y="1629"/>
                    </a:lnTo>
                    <a:lnTo>
                      <a:pt x="1879" y="1247"/>
                    </a:lnTo>
                    <a:lnTo>
                      <a:pt x="1791" y="1068"/>
                    </a:lnTo>
                    <a:lnTo>
                      <a:pt x="1690" y="901"/>
                    </a:lnTo>
                    <a:lnTo>
                      <a:pt x="1573" y="743"/>
                    </a:lnTo>
                    <a:lnTo>
                      <a:pt x="1508" y="671"/>
                    </a:lnTo>
                    <a:lnTo>
                      <a:pt x="1439" y="599"/>
                    </a:lnTo>
                    <a:lnTo>
                      <a:pt x="1369" y="532"/>
                    </a:lnTo>
                    <a:lnTo>
                      <a:pt x="1297" y="468"/>
                    </a:lnTo>
                    <a:lnTo>
                      <a:pt x="1139" y="350"/>
                    </a:lnTo>
                    <a:lnTo>
                      <a:pt x="970" y="247"/>
                    </a:lnTo>
                    <a:lnTo>
                      <a:pt x="793" y="162"/>
                    </a:lnTo>
                    <a:lnTo>
                      <a:pt x="411" y="42"/>
                    </a:lnTo>
                    <a:lnTo>
                      <a:pt x="0" y="0"/>
                    </a:lnTo>
                    <a:lnTo>
                      <a:pt x="0" y="2042"/>
                    </a:lnTo>
                    <a:lnTo>
                      <a:pt x="2038" y="2042"/>
                    </a:lnTo>
                    <a:close/>
                  </a:path>
                </a:pathLst>
              </a:custGeom>
              <a:solidFill>
                <a:srgbClr val="002960">
                  <a:alpha val="7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85" name="Freeform 18"/>
              <p:cNvSpPr>
                <a:spLocks/>
              </p:cNvSpPr>
              <p:nvPr/>
            </p:nvSpPr>
            <p:spPr bwMode="auto">
              <a:xfrm>
                <a:off x="2064" y="1488"/>
                <a:ext cx="718" cy="720"/>
              </a:xfrm>
              <a:custGeom>
                <a:avLst/>
                <a:gdLst>
                  <a:gd name="T0" fmla="*/ 11 w 2036"/>
                  <a:gd name="T1" fmla="*/ 0 h 2039"/>
                  <a:gd name="T2" fmla="*/ 9 w 2036"/>
                  <a:gd name="T3" fmla="*/ 0 h 2039"/>
                  <a:gd name="T4" fmla="*/ 7 w 2036"/>
                  <a:gd name="T5" fmla="*/ 1 h 2039"/>
                  <a:gd name="T6" fmla="*/ 6 w 2036"/>
                  <a:gd name="T7" fmla="*/ 1 h 2039"/>
                  <a:gd name="T8" fmla="*/ 5 w 2036"/>
                  <a:gd name="T9" fmla="*/ 2 h 2039"/>
                  <a:gd name="T10" fmla="*/ 4 w 2036"/>
                  <a:gd name="T11" fmla="*/ 2 h 2039"/>
                  <a:gd name="T12" fmla="*/ 4 w 2036"/>
                  <a:gd name="T13" fmla="*/ 3 h 2039"/>
                  <a:gd name="T14" fmla="*/ 3 w 2036"/>
                  <a:gd name="T15" fmla="*/ 3 h 2039"/>
                  <a:gd name="T16" fmla="*/ 3 w 2036"/>
                  <a:gd name="T17" fmla="*/ 4 h 2039"/>
                  <a:gd name="T18" fmla="*/ 2 w 2036"/>
                  <a:gd name="T19" fmla="*/ 4 h 2039"/>
                  <a:gd name="T20" fmla="*/ 2 w 2036"/>
                  <a:gd name="T21" fmla="*/ 5 h 2039"/>
                  <a:gd name="T22" fmla="*/ 1 w 2036"/>
                  <a:gd name="T23" fmla="*/ 6 h 2039"/>
                  <a:gd name="T24" fmla="*/ 1 w 2036"/>
                  <a:gd name="T25" fmla="*/ 7 h 2039"/>
                  <a:gd name="T26" fmla="*/ 0 w 2036"/>
                  <a:gd name="T27" fmla="*/ 9 h 2039"/>
                  <a:gd name="T28" fmla="*/ 0 w 2036"/>
                  <a:gd name="T29" fmla="*/ 11 h 2039"/>
                  <a:gd name="T30" fmla="*/ 11 w 2036"/>
                  <a:gd name="T31" fmla="*/ 11 h 2039"/>
                  <a:gd name="T32" fmla="*/ 11 w 2036"/>
                  <a:gd name="T33" fmla="*/ 0 h 2039"/>
                  <a:gd name="T34" fmla="*/ 11 w 2036"/>
                  <a:gd name="T35" fmla="*/ 0 h 20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6"/>
                  <a:gd name="T55" fmla="*/ 0 h 2039"/>
                  <a:gd name="T56" fmla="*/ 2036 w 2036"/>
                  <a:gd name="T57" fmla="*/ 2039 h 203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6" h="2039">
                    <a:moveTo>
                      <a:pt x="2036" y="0"/>
                    </a:moveTo>
                    <a:lnTo>
                      <a:pt x="1626" y="40"/>
                    </a:lnTo>
                    <a:lnTo>
                      <a:pt x="1242" y="159"/>
                    </a:lnTo>
                    <a:lnTo>
                      <a:pt x="1065" y="247"/>
                    </a:lnTo>
                    <a:lnTo>
                      <a:pt x="895" y="348"/>
                    </a:lnTo>
                    <a:lnTo>
                      <a:pt x="740" y="466"/>
                    </a:lnTo>
                    <a:lnTo>
                      <a:pt x="665" y="530"/>
                    </a:lnTo>
                    <a:lnTo>
                      <a:pt x="595" y="599"/>
                    </a:lnTo>
                    <a:lnTo>
                      <a:pt x="527" y="669"/>
                    </a:lnTo>
                    <a:lnTo>
                      <a:pt x="464" y="741"/>
                    </a:lnTo>
                    <a:lnTo>
                      <a:pt x="346" y="899"/>
                    </a:lnTo>
                    <a:lnTo>
                      <a:pt x="243" y="1068"/>
                    </a:lnTo>
                    <a:lnTo>
                      <a:pt x="158" y="1245"/>
                    </a:lnTo>
                    <a:lnTo>
                      <a:pt x="38" y="1629"/>
                    </a:lnTo>
                    <a:lnTo>
                      <a:pt x="0" y="2039"/>
                    </a:lnTo>
                    <a:lnTo>
                      <a:pt x="2036" y="2039"/>
                    </a:lnTo>
                    <a:lnTo>
                      <a:pt x="2036" y="0"/>
                    </a:lnTo>
                    <a:close/>
                  </a:path>
                </a:pathLst>
              </a:custGeom>
              <a:solidFill>
                <a:srgbClr val="990033">
                  <a:alpha val="7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  <p:sp>
            <p:nvSpPr>
              <p:cNvPr id="108586" name="Freeform 19"/>
              <p:cNvSpPr>
                <a:spLocks/>
              </p:cNvSpPr>
              <p:nvPr/>
            </p:nvSpPr>
            <p:spPr bwMode="auto">
              <a:xfrm>
                <a:off x="2064" y="2208"/>
                <a:ext cx="718" cy="720"/>
              </a:xfrm>
              <a:custGeom>
                <a:avLst/>
                <a:gdLst>
                  <a:gd name="T0" fmla="*/ 0 w 2037"/>
                  <a:gd name="T1" fmla="*/ 0 h 2041"/>
                  <a:gd name="T2" fmla="*/ 0 w 2037"/>
                  <a:gd name="T3" fmla="*/ 2 h 2041"/>
                  <a:gd name="T4" fmla="*/ 1 w 2037"/>
                  <a:gd name="T5" fmla="*/ 4 h 2041"/>
                  <a:gd name="T6" fmla="*/ 1 w 2037"/>
                  <a:gd name="T7" fmla="*/ 5 h 2041"/>
                  <a:gd name="T8" fmla="*/ 2 w 2037"/>
                  <a:gd name="T9" fmla="*/ 6 h 2041"/>
                  <a:gd name="T10" fmla="*/ 2 w 2037"/>
                  <a:gd name="T11" fmla="*/ 7 h 2041"/>
                  <a:gd name="T12" fmla="*/ 3 w 2037"/>
                  <a:gd name="T13" fmla="*/ 7 h 2041"/>
                  <a:gd name="T14" fmla="*/ 3 w 2037"/>
                  <a:gd name="T15" fmla="*/ 8 h 2041"/>
                  <a:gd name="T16" fmla="*/ 4 w 2037"/>
                  <a:gd name="T17" fmla="*/ 8 h 2041"/>
                  <a:gd name="T18" fmla="*/ 4 w 2037"/>
                  <a:gd name="T19" fmla="*/ 8 h 2041"/>
                  <a:gd name="T20" fmla="*/ 5 w 2037"/>
                  <a:gd name="T21" fmla="*/ 9 h 2041"/>
                  <a:gd name="T22" fmla="*/ 6 w 2037"/>
                  <a:gd name="T23" fmla="*/ 10 h 2041"/>
                  <a:gd name="T24" fmla="*/ 7 w 2037"/>
                  <a:gd name="T25" fmla="*/ 10 h 2041"/>
                  <a:gd name="T26" fmla="*/ 9 w 2037"/>
                  <a:gd name="T27" fmla="*/ 11 h 2041"/>
                  <a:gd name="T28" fmla="*/ 11 w 2037"/>
                  <a:gd name="T29" fmla="*/ 11 h 2041"/>
                  <a:gd name="T30" fmla="*/ 11 w 2037"/>
                  <a:gd name="T31" fmla="*/ 0 h 2041"/>
                  <a:gd name="T32" fmla="*/ 0 w 2037"/>
                  <a:gd name="T33" fmla="*/ 0 h 2041"/>
                  <a:gd name="T34" fmla="*/ 0 w 2037"/>
                  <a:gd name="T35" fmla="*/ 0 h 20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37"/>
                  <a:gd name="T55" fmla="*/ 0 h 2041"/>
                  <a:gd name="T56" fmla="*/ 2037 w 2037"/>
                  <a:gd name="T57" fmla="*/ 2041 h 204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37" h="2041">
                    <a:moveTo>
                      <a:pt x="0" y="0"/>
                    </a:moveTo>
                    <a:lnTo>
                      <a:pt x="40" y="412"/>
                    </a:lnTo>
                    <a:lnTo>
                      <a:pt x="160" y="794"/>
                    </a:lnTo>
                    <a:lnTo>
                      <a:pt x="246" y="971"/>
                    </a:lnTo>
                    <a:lnTo>
                      <a:pt x="348" y="1140"/>
                    </a:lnTo>
                    <a:lnTo>
                      <a:pt x="466" y="1298"/>
                    </a:lnTo>
                    <a:lnTo>
                      <a:pt x="529" y="1372"/>
                    </a:lnTo>
                    <a:lnTo>
                      <a:pt x="597" y="1442"/>
                    </a:lnTo>
                    <a:lnTo>
                      <a:pt x="668" y="1511"/>
                    </a:lnTo>
                    <a:lnTo>
                      <a:pt x="742" y="1574"/>
                    </a:lnTo>
                    <a:lnTo>
                      <a:pt x="898" y="1691"/>
                    </a:lnTo>
                    <a:lnTo>
                      <a:pt x="1067" y="1794"/>
                    </a:lnTo>
                    <a:lnTo>
                      <a:pt x="1244" y="1880"/>
                    </a:lnTo>
                    <a:lnTo>
                      <a:pt x="1626" y="1999"/>
                    </a:lnTo>
                    <a:lnTo>
                      <a:pt x="2037" y="2041"/>
                    </a:lnTo>
                    <a:lnTo>
                      <a:pt x="20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000">
                  <a:alpha val="79999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0" hangingPunct="0">
                  <a:spcBef>
                    <a:spcPct val="50000"/>
                  </a:spcBef>
                </a:pPr>
                <a:endParaRPr lang="es-AR" sz="1200" b="1">
                  <a:solidFill>
                    <a:srgbClr val="002D62"/>
                  </a:solidFill>
                </a:endParaRPr>
              </a:p>
            </p:txBody>
          </p:sp>
        </p:grpSp>
        <p:sp>
          <p:nvSpPr>
            <p:cNvPr id="108553" name="Line 20"/>
            <p:cNvSpPr>
              <a:spLocks noChangeShapeType="1"/>
            </p:cNvSpPr>
            <p:nvPr/>
          </p:nvSpPr>
          <p:spPr bwMode="auto">
            <a:xfrm>
              <a:off x="873" y="2355"/>
              <a:ext cx="3859" cy="0"/>
            </a:xfrm>
            <a:prstGeom prst="line">
              <a:avLst/>
            </a:prstGeom>
            <a:noFill/>
            <a:ln w="38100">
              <a:solidFill>
                <a:srgbClr val="00296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54" name="Line 21"/>
            <p:cNvSpPr>
              <a:spLocks noChangeShapeType="1"/>
            </p:cNvSpPr>
            <p:nvPr/>
          </p:nvSpPr>
          <p:spPr bwMode="auto">
            <a:xfrm>
              <a:off x="2800" y="461"/>
              <a:ext cx="0" cy="3787"/>
            </a:xfrm>
            <a:prstGeom prst="line">
              <a:avLst/>
            </a:prstGeom>
            <a:noFill/>
            <a:ln w="38100">
              <a:solidFill>
                <a:srgbClr val="00296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55" name="Text Box 22"/>
            <p:cNvSpPr txBox="1">
              <a:spLocks noChangeArrowheads="1"/>
            </p:cNvSpPr>
            <p:nvPr/>
          </p:nvSpPr>
          <p:spPr bwMode="auto">
            <a:xfrm>
              <a:off x="1248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333333"/>
                  </a:solidFill>
                </a:rPr>
                <a:t>D3</a:t>
              </a:r>
            </a:p>
          </p:txBody>
        </p:sp>
        <p:sp>
          <p:nvSpPr>
            <p:cNvPr id="108556" name="Text Box 23"/>
            <p:cNvSpPr txBox="1">
              <a:spLocks noChangeArrowheads="1"/>
            </p:cNvSpPr>
            <p:nvPr/>
          </p:nvSpPr>
          <p:spPr bwMode="auto">
            <a:xfrm>
              <a:off x="1764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4D4D4D"/>
                  </a:solidFill>
                </a:rPr>
                <a:t>D2</a:t>
              </a:r>
            </a:p>
          </p:txBody>
        </p:sp>
        <p:sp>
          <p:nvSpPr>
            <p:cNvPr id="108557" name="Text Box 24"/>
            <p:cNvSpPr txBox="1">
              <a:spLocks noChangeArrowheads="1"/>
            </p:cNvSpPr>
            <p:nvPr/>
          </p:nvSpPr>
          <p:spPr bwMode="auto">
            <a:xfrm>
              <a:off x="2433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B2B2B2"/>
                  </a:solidFill>
                </a:rPr>
                <a:t>D1</a:t>
              </a:r>
            </a:p>
          </p:txBody>
        </p:sp>
        <p:sp>
          <p:nvSpPr>
            <p:cNvPr id="108558" name="Text Box 25"/>
            <p:cNvSpPr txBox="1">
              <a:spLocks noChangeArrowheads="1"/>
            </p:cNvSpPr>
            <p:nvPr/>
          </p:nvSpPr>
          <p:spPr bwMode="auto">
            <a:xfrm rot="18691161">
              <a:off x="2150" y="1976"/>
              <a:ext cx="65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900" b="1">
                  <a:solidFill>
                    <a:schemeClr val="bg1"/>
                  </a:solidFill>
                </a:rPr>
                <a:t>Egoísmo</a:t>
              </a:r>
            </a:p>
          </p:txBody>
        </p:sp>
        <p:sp>
          <p:nvSpPr>
            <p:cNvPr id="108559" name="Text Box 26"/>
            <p:cNvSpPr txBox="1">
              <a:spLocks noChangeArrowheads="1"/>
            </p:cNvSpPr>
            <p:nvPr/>
          </p:nvSpPr>
          <p:spPr bwMode="auto">
            <a:xfrm rot="2491161">
              <a:off x="3012" y="1557"/>
              <a:ext cx="754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900" b="1">
                  <a:solidFill>
                    <a:schemeClr val="bg1"/>
                  </a:solidFill>
                </a:rPr>
                <a:t>Aceptación</a:t>
              </a:r>
            </a:p>
          </p:txBody>
        </p:sp>
        <p:sp>
          <p:nvSpPr>
            <p:cNvPr id="108560" name="Text Box 27"/>
            <p:cNvSpPr txBox="1">
              <a:spLocks noChangeArrowheads="1"/>
            </p:cNvSpPr>
            <p:nvPr/>
          </p:nvSpPr>
          <p:spPr bwMode="auto">
            <a:xfrm rot="18691161">
              <a:off x="3179" y="2851"/>
              <a:ext cx="702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/>
                <a:t>Claridad</a:t>
              </a:r>
            </a:p>
          </p:txBody>
        </p:sp>
        <p:sp>
          <p:nvSpPr>
            <p:cNvPr id="108561" name="Text Box 28"/>
            <p:cNvSpPr txBox="1">
              <a:spLocks noChangeArrowheads="1"/>
            </p:cNvSpPr>
            <p:nvPr/>
          </p:nvSpPr>
          <p:spPr bwMode="auto">
            <a:xfrm rot="2491161">
              <a:off x="1832" y="2929"/>
              <a:ext cx="682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Robusto</a:t>
              </a:r>
            </a:p>
          </p:txBody>
        </p:sp>
        <p:sp>
          <p:nvSpPr>
            <p:cNvPr id="108562" name="Text Box 29"/>
            <p:cNvSpPr txBox="1">
              <a:spLocks noChangeArrowheads="1"/>
            </p:cNvSpPr>
            <p:nvPr/>
          </p:nvSpPr>
          <p:spPr bwMode="auto">
            <a:xfrm>
              <a:off x="1248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333333"/>
                  </a:solidFill>
                </a:rPr>
                <a:t>C3</a:t>
              </a:r>
            </a:p>
          </p:txBody>
        </p:sp>
        <p:sp>
          <p:nvSpPr>
            <p:cNvPr id="108563" name="Text Box 30"/>
            <p:cNvSpPr txBox="1">
              <a:spLocks noChangeArrowheads="1"/>
            </p:cNvSpPr>
            <p:nvPr/>
          </p:nvSpPr>
          <p:spPr bwMode="auto">
            <a:xfrm>
              <a:off x="1764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4D4D4D"/>
                  </a:solidFill>
                </a:rPr>
                <a:t>C2</a:t>
              </a:r>
            </a:p>
          </p:txBody>
        </p:sp>
        <p:sp>
          <p:nvSpPr>
            <p:cNvPr id="108564" name="Text Box 31"/>
            <p:cNvSpPr txBox="1">
              <a:spLocks noChangeArrowheads="1"/>
            </p:cNvSpPr>
            <p:nvPr/>
          </p:nvSpPr>
          <p:spPr bwMode="auto">
            <a:xfrm>
              <a:off x="2433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B2B2B2"/>
                  </a:solidFill>
                </a:rPr>
                <a:t>C1</a:t>
              </a:r>
            </a:p>
          </p:txBody>
        </p:sp>
        <p:sp>
          <p:nvSpPr>
            <p:cNvPr id="108565" name="Text Box 32"/>
            <p:cNvSpPr txBox="1">
              <a:spLocks noChangeArrowheads="1"/>
            </p:cNvSpPr>
            <p:nvPr/>
          </p:nvSpPr>
          <p:spPr bwMode="auto">
            <a:xfrm>
              <a:off x="2889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B2B2B2"/>
                  </a:solidFill>
                </a:rPr>
                <a:t>A1</a:t>
              </a:r>
            </a:p>
          </p:txBody>
        </p:sp>
        <p:sp>
          <p:nvSpPr>
            <p:cNvPr id="108566" name="Text Box 33"/>
            <p:cNvSpPr txBox="1">
              <a:spLocks noChangeArrowheads="1"/>
            </p:cNvSpPr>
            <p:nvPr/>
          </p:nvSpPr>
          <p:spPr bwMode="auto">
            <a:xfrm>
              <a:off x="3594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4D4D4D"/>
                  </a:solidFill>
                </a:rPr>
                <a:t>A2</a:t>
              </a:r>
            </a:p>
          </p:txBody>
        </p:sp>
        <p:sp>
          <p:nvSpPr>
            <p:cNvPr id="108567" name="Text Box 34"/>
            <p:cNvSpPr txBox="1">
              <a:spLocks noChangeArrowheads="1"/>
            </p:cNvSpPr>
            <p:nvPr/>
          </p:nvSpPr>
          <p:spPr bwMode="auto">
            <a:xfrm>
              <a:off x="4110" y="2178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333333"/>
                  </a:solidFill>
                </a:rPr>
                <a:t>A3</a:t>
              </a:r>
            </a:p>
          </p:txBody>
        </p:sp>
        <p:sp>
          <p:nvSpPr>
            <p:cNvPr id="108568" name="Text Box 35"/>
            <p:cNvSpPr txBox="1">
              <a:spLocks noChangeArrowheads="1"/>
            </p:cNvSpPr>
            <p:nvPr/>
          </p:nvSpPr>
          <p:spPr bwMode="auto">
            <a:xfrm>
              <a:off x="2889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1F22A9"/>
                  </a:solidFill>
                </a:rPr>
                <a:t>B1</a:t>
              </a:r>
            </a:p>
          </p:txBody>
        </p:sp>
        <p:sp>
          <p:nvSpPr>
            <p:cNvPr id="108569" name="Text Box 36"/>
            <p:cNvSpPr txBox="1">
              <a:spLocks noChangeArrowheads="1"/>
            </p:cNvSpPr>
            <p:nvPr/>
          </p:nvSpPr>
          <p:spPr bwMode="auto">
            <a:xfrm>
              <a:off x="3594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4D4D4D"/>
                  </a:solidFill>
                </a:rPr>
                <a:t>B2</a:t>
              </a:r>
            </a:p>
          </p:txBody>
        </p:sp>
        <p:sp>
          <p:nvSpPr>
            <p:cNvPr id="108570" name="Text Box 37"/>
            <p:cNvSpPr txBox="1">
              <a:spLocks noChangeArrowheads="1"/>
            </p:cNvSpPr>
            <p:nvPr/>
          </p:nvSpPr>
          <p:spPr bwMode="auto">
            <a:xfrm>
              <a:off x="4110" y="2414"/>
              <a:ext cx="3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333333"/>
                  </a:solidFill>
                </a:rPr>
                <a:t>B3</a:t>
              </a:r>
            </a:p>
          </p:txBody>
        </p:sp>
        <p:sp>
          <p:nvSpPr>
            <p:cNvPr id="108571" name="Text Box 38"/>
            <p:cNvSpPr txBox="1">
              <a:spLocks noChangeArrowheads="1"/>
            </p:cNvSpPr>
            <p:nvPr/>
          </p:nvSpPr>
          <p:spPr bwMode="auto">
            <a:xfrm rot="18691161">
              <a:off x="1778" y="1628"/>
              <a:ext cx="696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Respeto</a:t>
              </a:r>
            </a:p>
          </p:txBody>
        </p:sp>
        <p:sp>
          <p:nvSpPr>
            <p:cNvPr id="108572" name="Text Box 39"/>
            <p:cNvSpPr txBox="1">
              <a:spLocks noChangeArrowheads="1"/>
            </p:cNvSpPr>
            <p:nvPr/>
          </p:nvSpPr>
          <p:spPr bwMode="auto">
            <a:xfrm rot="18691161">
              <a:off x="1332" y="1286"/>
              <a:ext cx="889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Solidaridad</a:t>
              </a:r>
            </a:p>
          </p:txBody>
        </p:sp>
        <p:sp>
          <p:nvSpPr>
            <p:cNvPr id="108573" name="Text Box 40"/>
            <p:cNvSpPr txBox="1">
              <a:spLocks noChangeArrowheads="1"/>
            </p:cNvSpPr>
            <p:nvPr/>
          </p:nvSpPr>
          <p:spPr bwMode="auto">
            <a:xfrm rot="2491161">
              <a:off x="3309" y="1053"/>
              <a:ext cx="52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Logro</a:t>
              </a:r>
            </a:p>
          </p:txBody>
        </p:sp>
        <p:sp>
          <p:nvSpPr>
            <p:cNvPr id="108574" name="Text Box 41"/>
            <p:cNvSpPr txBox="1">
              <a:spLocks noChangeArrowheads="1"/>
            </p:cNvSpPr>
            <p:nvPr/>
          </p:nvSpPr>
          <p:spPr bwMode="auto">
            <a:xfrm rot="18691161">
              <a:off x="3319" y="3201"/>
              <a:ext cx="9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Compromiso</a:t>
              </a:r>
            </a:p>
          </p:txBody>
        </p:sp>
        <p:sp>
          <p:nvSpPr>
            <p:cNvPr id="108575" name="Text Box 42"/>
            <p:cNvSpPr txBox="1">
              <a:spLocks noChangeArrowheads="1"/>
            </p:cNvSpPr>
            <p:nvPr/>
          </p:nvSpPr>
          <p:spPr bwMode="auto">
            <a:xfrm rot="2491161">
              <a:off x="1434" y="3332"/>
              <a:ext cx="856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rgbClr val="002960"/>
                  </a:solidFill>
                </a:rPr>
                <a:t>Optimizado</a:t>
              </a:r>
            </a:p>
          </p:txBody>
        </p:sp>
        <p:sp>
          <p:nvSpPr>
            <p:cNvPr id="108576" name="Text Box 43"/>
            <p:cNvSpPr txBox="1">
              <a:spLocks noChangeArrowheads="1"/>
            </p:cNvSpPr>
            <p:nvPr/>
          </p:nvSpPr>
          <p:spPr bwMode="auto">
            <a:xfrm rot="18691161">
              <a:off x="696" y="996"/>
              <a:ext cx="134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200" b="1">
                  <a:solidFill>
                    <a:srgbClr val="FF3300"/>
                  </a:solidFill>
                </a:rPr>
                <a:t>D. RELACIONES</a:t>
              </a:r>
            </a:p>
          </p:txBody>
        </p:sp>
        <p:sp>
          <p:nvSpPr>
            <p:cNvPr id="108577" name="Text Box 44"/>
            <p:cNvSpPr txBox="1">
              <a:spLocks noChangeArrowheads="1"/>
            </p:cNvSpPr>
            <p:nvPr/>
          </p:nvSpPr>
          <p:spPr bwMode="auto">
            <a:xfrm rot="18691161">
              <a:off x="3324" y="3427"/>
              <a:ext cx="182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AR" sz="1200" b="1">
                  <a:solidFill>
                    <a:srgbClr val="FCC000"/>
                  </a:solidFill>
                </a:rPr>
                <a:t>B. ROLES </a:t>
              </a:r>
            </a:p>
            <a:p>
              <a:pPr algn="ctr"/>
              <a:r>
                <a:rPr lang="es-AR" sz="1200" b="1">
                  <a:solidFill>
                    <a:srgbClr val="FCC000"/>
                  </a:solidFill>
                </a:rPr>
                <a:t>RESPONSABILIDADES</a:t>
              </a:r>
            </a:p>
          </p:txBody>
        </p:sp>
        <p:sp>
          <p:nvSpPr>
            <p:cNvPr id="108578" name="Text Box 45"/>
            <p:cNvSpPr txBox="1">
              <a:spLocks noChangeArrowheads="1"/>
            </p:cNvSpPr>
            <p:nvPr/>
          </p:nvSpPr>
          <p:spPr bwMode="auto">
            <a:xfrm rot="2491161">
              <a:off x="3311" y="832"/>
              <a:ext cx="1907" cy="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s-AR" sz="1200" b="1">
                  <a:solidFill>
                    <a:srgbClr val="002960"/>
                  </a:solidFill>
                </a:rPr>
                <a:t>A. PROPÓSITO / METAS /</a:t>
              </a:r>
              <a:br>
                <a:rPr lang="es-AR" sz="1200" b="1">
                  <a:solidFill>
                    <a:srgbClr val="002960"/>
                  </a:solidFill>
                </a:rPr>
              </a:br>
              <a:r>
                <a:rPr lang="es-AR" sz="1200" b="1">
                  <a:solidFill>
                    <a:srgbClr val="002960"/>
                  </a:solidFill>
                </a:rPr>
                <a:t> VALORES</a:t>
              </a:r>
            </a:p>
          </p:txBody>
        </p:sp>
        <p:sp>
          <p:nvSpPr>
            <p:cNvPr id="108579" name="Text Box 46"/>
            <p:cNvSpPr txBox="1">
              <a:spLocks noChangeArrowheads="1"/>
            </p:cNvSpPr>
            <p:nvPr/>
          </p:nvSpPr>
          <p:spPr bwMode="auto">
            <a:xfrm rot="2491161">
              <a:off x="938" y="3682"/>
              <a:ext cx="117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200" b="1">
                  <a:solidFill>
                    <a:srgbClr val="008000"/>
                  </a:solidFill>
                </a:rPr>
                <a:t>C. PROCESOS</a:t>
              </a:r>
            </a:p>
          </p:txBody>
        </p:sp>
        <p:sp>
          <p:nvSpPr>
            <p:cNvPr id="108580" name="Text Box 47"/>
            <p:cNvSpPr txBox="1">
              <a:spLocks noChangeArrowheads="1"/>
            </p:cNvSpPr>
            <p:nvPr/>
          </p:nvSpPr>
          <p:spPr bwMode="auto">
            <a:xfrm rot="2491161">
              <a:off x="2703" y="2001"/>
              <a:ext cx="850" cy="2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900" b="1">
                  <a:solidFill>
                    <a:schemeClr val="bg1"/>
                  </a:solidFill>
                </a:rPr>
                <a:t>Discordancia</a:t>
              </a:r>
            </a:p>
          </p:txBody>
        </p:sp>
        <p:sp>
          <p:nvSpPr>
            <p:cNvPr id="108581" name="Text Box 48"/>
            <p:cNvSpPr txBox="1">
              <a:spLocks noChangeArrowheads="1"/>
            </p:cNvSpPr>
            <p:nvPr/>
          </p:nvSpPr>
          <p:spPr bwMode="auto">
            <a:xfrm rot="18691161">
              <a:off x="2781" y="2502"/>
              <a:ext cx="666" cy="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s-AR" sz="800" b="1" dirty="0">
                  <a:solidFill>
                    <a:schemeClr val="bg1"/>
                  </a:solidFill>
                </a:rPr>
                <a:t>Confusión</a:t>
              </a:r>
            </a:p>
          </p:txBody>
        </p:sp>
        <p:sp>
          <p:nvSpPr>
            <p:cNvPr id="108582" name="Text Box 49"/>
            <p:cNvSpPr txBox="1">
              <a:spLocks noChangeArrowheads="1"/>
            </p:cNvSpPr>
            <p:nvPr/>
          </p:nvSpPr>
          <p:spPr bwMode="auto">
            <a:xfrm rot="2491161">
              <a:off x="2248" y="2484"/>
              <a:ext cx="480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s-AR" sz="1050" b="1">
                  <a:solidFill>
                    <a:schemeClr val="bg1"/>
                  </a:solidFill>
                </a:rPr>
                <a:t>Débil</a:t>
              </a:r>
            </a:p>
          </p:txBody>
        </p:sp>
      </p:grpSp>
      <p:sp>
        <p:nvSpPr>
          <p:cNvPr id="108548" name="Rectangle 5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5" name="Shape 265">
            <a:extLst>
              <a:ext uri="{FF2B5EF4-FFF2-40B4-BE49-F238E27FC236}">
                <a16:creationId xmlns:a16="http://schemas.microsoft.com/office/drawing/2014/main" id="{35FAB16D-E0F0-4232-97F5-FCD62186C23A}"/>
              </a:ext>
            </a:extLst>
          </p:cNvPr>
          <p:cNvSpPr/>
          <p:nvPr/>
        </p:nvSpPr>
        <p:spPr>
          <a:xfrm>
            <a:off x="20506" y="0"/>
            <a:ext cx="9267511" cy="94196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4289" rIns="34289" anchor="ctr">
            <a:normAutofit/>
          </a:bodyPr>
          <a:lstStyle/>
          <a:p>
            <a:r>
              <a:rPr lang="es-AR" sz="2800" dirty="0">
                <a:ea typeface="Arial" charset="0"/>
              </a:rPr>
              <a:t>     </a:t>
            </a:r>
            <a:r>
              <a:rPr lang="es-AR" sz="2400" dirty="0">
                <a:ea typeface="Arial" charset="0"/>
              </a:rPr>
              <a:t>CUADRANTES DE DESARROLLO DE EQUIPOS </a:t>
            </a:r>
            <a:endParaRPr lang="en-US" sz="2400" dirty="0">
              <a:ea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6B8B6-CC20-429D-ACFF-6823D662A923}"/>
              </a:ext>
            </a:extLst>
          </p:cNvPr>
          <p:cNvSpPr txBox="1"/>
          <p:nvPr/>
        </p:nvSpPr>
        <p:spPr>
          <a:xfrm>
            <a:off x="628650" y="1891393"/>
            <a:ext cx="25472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Nuestro modelo conceptual se enfoca sobre 4 cuadrantes y reconoce para cada uno de ellos, sucesivos </a:t>
            </a:r>
            <a:r>
              <a:rPr lang="es-AR" dirty="0" err="1"/>
              <a:t>estadíos</a:t>
            </a:r>
            <a:r>
              <a:rPr lang="es-AR" dirty="0"/>
              <a:t> evolutivos.</a:t>
            </a:r>
          </a:p>
          <a:p>
            <a:pPr algn="ctr"/>
            <a:r>
              <a:rPr lang="es-AR" dirty="0"/>
              <a:t>En las páginas siguientes presentamos con mayor detalle, descriptores que ilustran dichos </a:t>
            </a:r>
            <a:r>
              <a:rPr lang="es-AR" dirty="0" err="1"/>
              <a:t>estadíos</a:t>
            </a:r>
            <a:r>
              <a:rPr lang="es-AR" dirty="0"/>
              <a:t> en cada cuadrante.</a:t>
            </a:r>
            <a:endParaRPr lang="en-US" dirty="0"/>
          </a:p>
        </p:txBody>
      </p:sp>
      <p:cxnSp>
        <p:nvCxnSpPr>
          <p:cNvPr id="54" name="27 Conector recto">
            <a:extLst>
              <a:ext uri="{FF2B5EF4-FFF2-40B4-BE49-F238E27FC236}">
                <a16:creationId xmlns:a16="http://schemas.microsoft.com/office/drawing/2014/main" id="{8C1610CF-607A-4303-A868-E7457941A0E7}"/>
              </a:ext>
            </a:extLst>
          </p:cNvPr>
          <p:cNvCxnSpPr/>
          <p:nvPr/>
        </p:nvCxnSpPr>
        <p:spPr>
          <a:xfrm>
            <a:off x="499364" y="135012"/>
            <a:ext cx="0" cy="854355"/>
          </a:xfrm>
          <a:prstGeom prst="line">
            <a:avLst/>
          </a:prstGeom>
          <a:noFill/>
          <a:ln w="28575">
            <a:solidFill>
              <a:srgbClr val="002060"/>
            </a:solidFill>
          </a:ln>
        </p:spPr>
      </p:cxnSp>
    </p:spTree>
    <p:extLst>
      <p:ext uri="{BB962C8B-B14F-4D97-AF65-F5344CB8AC3E}">
        <p14:creationId xmlns:p14="http://schemas.microsoft.com/office/powerpoint/2010/main" val="418681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E9BD-ABB1-4E99-A397-AF838D1F2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117958"/>
            <a:ext cx="8119814" cy="2251447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AR" sz="3000" dirty="0"/>
              <a:t>¿Cómo me voy de este encuentro? ¿Qué me llevo?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AR" sz="3000" dirty="0"/>
              <a:t>¿Qué priorizaré aprender o reforzar este año para contribuir mejor al equipo?</a:t>
            </a:r>
          </a:p>
        </p:txBody>
      </p:sp>
      <p:cxnSp>
        <p:nvCxnSpPr>
          <p:cNvPr id="4" name="27 Conector recto">
            <a:extLst>
              <a:ext uri="{FF2B5EF4-FFF2-40B4-BE49-F238E27FC236}">
                <a16:creationId xmlns:a16="http://schemas.microsoft.com/office/drawing/2014/main" id="{CD0FC914-DACE-453B-B77B-F2EC91EDE12D}"/>
              </a:ext>
            </a:extLst>
          </p:cNvPr>
          <p:cNvCxnSpPr/>
          <p:nvPr/>
        </p:nvCxnSpPr>
        <p:spPr>
          <a:xfrm>
            <a:off x="499364" y="135012"/>
            <a:ext cx="0" cy="854355"/>
          </a:xfrm>
          <a:prstGeom prst="line">
            <a:avLst/>
          </a:prstGeom>
          <a:noFill/>
          <a:ln w="28575">
            <a:solidFill>
              <a:srgbClr val="002060"/>
            </a:solidFill>
          </a:ln>
        </p:spPr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9545CAE8-735E-46ED-A3F4-1FDA2BEA43AA}"/>
              </a:ext>
            </a:extLst>
          </p:cNvPr>
          <p:cNvSpPr/>
          <p:nvPr/>
        </p:nvSpPr>
        <p:spPr>
          <a:xfrm>
            <a:off x="467544" y="188640"/>
            <a:ext cx="6285001" cy="833390"/>
          </a:xfrm>
          <a:prstGeom prst="rect">
            <a:avLst/>
          </a:prstGeom>
        </p:spPr>
        <p:txBody>
          <a:bodyPr wrap="square" lIns="101431" tIns="50715" rIns="101431" bIns="50715">
            <a:spAutoFit/>
          </a:bodyPr>
          <a:lstStyle/>
          <a:p>
            <a:pPr>
              <a:lnSpc>
                <a:spcPct val="125000"/>
              </a:lnSpc>
            </a:pPr>
            <a:r>
              <a:rPr lang="es-ES" sz="2400" dirty="0">
                <a:solidFill>
                  <a:srgbClr val="002060"/>
                </a:solidFill>
                <a:ea typeface="Arial" charset="0"/>
              </a:rPr>
              <a:t>CHECK OUT</a:t>
            </a:r>
          </a:p>
          <a:p>
            <a:pPr>
              <a:lnSpc>
                <a:spcPct val="125000"/>
              </a:lnSpc>
            </a:pPr>
            <a:endParaRPr lang="es-ES_tradnl" sz="1400" dirty="0">
              <a:solidFill>
                <a:srgbClr val="002060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8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Template ppt 2010 - simple cover 1.0">
  <a:themeElements>
    <a:clrScheme name="Personalizado 4">
      <a:dk1>
        <a:srgbClr val="002D62"/>
      </a:dk1>
      <a:lt1>
        <a:srgbClr val="FFFFFF"/>
      </a:lt1>
      <a:dk2>
        <a:srgbClr val="60007A"/>
      </a:dk2>
      <a:lt2>
        <a:srgbClr val="A6A6A6"/>
      </a:lt2>
      <a:accent1>
        <a:srgbClr val="FFFFFF"/>
      </a:accent1>
      <a:accent2>
        <a:srgbClr val="FBB03F"/>
      </a:accent2>
      <a:accent3>
        <a:srgbClr val="32A063"/>
      </a:accent3>
      <a:accent4>
        <a:srgbClr val="C00000"/>
      </a:accent4>
      <a:accent5>
        <a:srgbClr val="46509C"/>
      </a:accent5>
      <a:accent6>
        <a:srgbClr val="FFCC00"/>
      </a:accent6>
      <a:hlink>
        <a:srgbClr val="32A063"/>
      </a:hlink>
      <a:folHlink>
        <a:srgbClr val="C000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 ppt 2010 - simple cover 1.0 1">
        <a:dk1>
          <a:srgbClr val="002D62"/>
        </a:dk1>
        <a:lt1>
          <a:srgbClr val="FFFFFF"/>
        </a:lt1>
        <a:dk2>
          <a:srgbClr val="002D62"/>
        </a:dk2>
        <a:lt2>
          <a:srgbClr val="EAEAEA"/>
        </a:lt2>
        <a:accent1>
          <a:srgbClr val="002D62"/>
        </a:accent1>
        <a:accent2>
          <a:srgbClr val="FBB03F"/>
        </a:accent2>
        <a:accent3>
          <a:srgbClr val="FFFFFF"/>
        </a:accent3>
        <a:accent4>
          <a:srgbClr val="002553"/>
        </a:accent4>
        <a:accent5>
          <a:srgbClr val="AAADB7"/>
        </a:accent5>
        <a:accent6>
          <a:srgbClr val="E39F38"/>
        </a:accent6>
        <a:hlink>
          <a:srgbClr val="0050B0"/>
        </a:hlink>
        <a:folHlink>
          <a:srgbClr val="C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pt 2010 - simple cover 1.0 2">
        <a:dk1>
          <a:srgbClr val="002D62"/>
        </a:dk1>
        <a:lt1>
          <a:srgbClr val="FFFFFF"/>
        </a:lt1>
        <a:dk2>
          <a:srgbClr val="002D62"/>
        </a:dk2>
        <a:lt2>
          <a:srgbClr val="C0C0C0"/>
        </a:lt2>
        <a:accent1>
          <a:srgbClr val="002D62"/>
        </a:accent1>
        <a:accent2>
          <a:srgbClr val="FBB03F"/>
        </a:accent2>
        <a:accent3>
          <a:srgbClr val="FFFFFF"/>
        </a:accent3>
        <a:accent4>
          <a:srgbClr val="002553"/>
        </a:accent4>
        <a:accent5>
          <a:srgbClr val="AAADB7"/>
        </a:accent5>
        <a:accent6>
          <a:srgbClr val="E39F38"/>
        </a:accent6>
        <a:hlink>
          <a:srgbClr val="0050B0"/>
        </a:hlink>
        <a:folHlink>
          <a:srgbClr val="C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pt 2010 - simple cover 1.0 3">
        <a:dk1>
          <a:srgbClr val="002D62"/>
        </a:dk1>
        <a:lt1>
          <a:srgbClr val="FFFFFF"/>
        </a:lt1>
        <a:dk2>
          <a:srgbClr val="002D62"/>
        </a:dk2>
        <a:lt2>
          <a:srgbClr val="C0C0C0"/>
        </a:lt2>
        <a:accent1>
          <a:srgbClr val="FFFFFF"/>
        </a:accent1>
        <a:accent2>
          <a:srgbClr val="FBB03F"/>
        </a:accent2>
        <a:accent3>
          <a:srgbClr val="FFFFFF"/>
        </a:accent3>
        <a:accent4>
          <a:srgbClr val="002553"/>
        </a:accent4>
        <a:accent5>
          <a:srgbClr val="FFFFFF"/>
        </a:accent5>
        <a:accent6>
          <a:srgbClr val="E39F38"/>
        </a:accent6>
        <a:hlink>
          <a:srgbClr val="0050B0"/>
        </a:hlink>
        <a:folHlink>
          <a:srgbClr val="C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pt 2010 - simple cover 1.0 4">
        <a:dk1>
          <a:srgbClr val="002D62"/>
        </a:dk1>
        <a:lt1>
          <a:srgbClr val="FFFFFF"/>
        </a:lt1>
        <a:dk2>
          <a:srgbClr val="60007A"/>
        </a:dk2>
        <a:lt2>
          <a:srgbClr val="A6A6A6"/>
        </a:lt2>
        <a:accent1>
          <a:srgbClr val="FFFFFF"/>
        </a:accent1>
        <a:accent2>
          <a:srgbClr val="FBB03F"/>
        </a:accent2>
        <a:accent3>
          <a:srgbClr val="FFFFFF"/>
        </a:accent3>
        <a:accent4>
          <a:srgbClr val="002553"/>
        </a:accent4>
        <a:accent5>
          <a:srgbClr val="FFFFFF"/>
        </a:accent5>
        <a:accent6>
          <a:srgbClr val="E39F38"/>
        </a:accent6>
        <a:hlink>
          <a:srgbClr val="32A063"/>
        </a:hlink>
        <a:folHlink>
          <a:srgbClr val="C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ppt 2010 - simple cover 1.0 1">
        <a:dk1>
          <a:srgbClr val="002D62"/>
        </a:dk1>
        <a:lt1>
          <a:srgbClr val="FFFFFF"/>
        </a:lt1>
        <a:dk2>
          <a:srgbClr val="60007A"/>
        </a:dk2>
        <a:lt2>
          <a:srgbClr val="A6A6A6"/>
        </a:lt2>
        <a:accent1>
          <a:srgbClr val="FFFFFF"/>
        </a:accent1>
        <a:accent2>
          <a:srgbClr val="FBB03F"/>
        </a:accent2>
        <a:accent3>
          <a:srgbClr val="FFFFFF"/>
        </a:accent3>
        <a:accent4>
          <a:srgbClr val="002553"/>
        </a:accent4>
        <a:accent5>
          <a:srgbClr val="FFFFFF"/>
        </a:accent5>
        <a:accent6>
          <a:srgbClr val="E39F38"/>
        </a:accent6>
        <a:hlink>
          <a:srgbClr val="32A063"/>
        </a:hlink>
        <a:folHlink>
          <a:srgbClr val="C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aleta Axial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leta Axialent" id="{86D13FA0-822D-0749-9238-DFB50EA7BEDE}" vid="{3717736C-BC70-A64A-B50D-54D8B2E6FA3D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34565</TotalTime>
  <Words>679</Words>
  <Application>Microsoft Office PowerPoint</Application>
  <PresentationFormat>On-screen Show (4:3)</PresentationFormat>
  <Paragraphs>104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ＭＳ Ｐゴシック</vt:lpstr>
      <vt:lpstr>Arial</vt:lpstr>
      <vt:lpstr>Calibri</vt:lpstr>
      <vt:lpstr>Calibri Light</vt:lpstr>
      <vt:lpstr>Gill Sans</vt:lpstr>
      <vt:lpstr>Trebuchet MS</vt:lpstr>
      <vt:lpstr>Verdana</vt:lpstr>
      <vt:lpstr>Wingdings</vt:lpstr>
      <vt:lpstr>ヒラギノ角ゴ ProN W3</vt:lpstr>
      <vt:lpstr>1_Template ppt 2010 - simple cover 1.0</vt:lpstr>
      <vt:lpstr>Paleta Axialent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Dolores Hernandez</dc:creator>
  <cp:lastModifiedBy>Horacio R</cp:lastModifiedBy>
  <cp:revision>1388</cp:revision>
  <cp:lastPrinted>2018-02-22T16:07:30Z</cp:lastPrinted>
  <dcterms:created xsi:type="dcterms:W3CDTF">2011-02-25T15:12:04Z</dcterms:created>
  <dcterms:modified xsi:type="dcterms:W3CDTF">2018-03-13T12:06:08Z</dcterms:modified>
</cp:coreProperties>
</file>